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image" Target="../media/image27.png"/><Relationship Id="rId9" Type="http://schemas.openxmlformats.org/officeDocument/2006/relationships/image" Target="../media/image28.png"/><Relationship Id="rId10" Type="http://schemas.openxmlformats.org/officeDocument/2006/relationships/image" Target="../media/image2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4662487" y="2119312"/>
            <a:ext cx="2867025" cy="371475"/>
          </a:xfrm>
          <a:prstGeom prst="rect">
            <a:avLst/>
          </a:prstGeom>
        </p:spPr>
      </p:pic>
      <p:sp>
        <p:nvSpPr>
          <p:cNvPr id="4" name="TextBox 3"/>
          <p:cNvSpPr txBox="1"/>
          <p:nvPr/>
        </p:nvSpPr>
        <p:spPr>
          <a:xfrm>
            <a:off x="1345406" y="2681287"/>
            <a:ext cx="9501187" cy="1314450"/>
          </a:xfrm>
          <a:prstGeom prst="rect">
            <a:avLst/>
          </a:prstGeom>
          <a:noFill/>
        </p:spPr>
        <p:txBody>
          <a:bodyPr wrap="square" lIns="0" rIns="0" tIns="0" bIns="0" anchor="t">
            <a:spAutoFit/>
          </a:bodyPr>
          <a:lstStyle/>
          <a:p>
            <a:pPr algn="ctr">
              <a:lnSpc>
                <a:spcPts val="5175"/>
              </a:lnSpc>
            </a:pPr>
            <a:r>
              <a:rPr b="1" sz="4500" i="0" u="none">
                <a:solidFill>
                  <a:srgbClr val="F8FAFC"/>
                </a:solidFill>
                <a:latin typeface="Poppins"/>
              </a:rPr>
              <a:t>Kebugaran Jasmani:</a:t>
            </a:r>
            <a:r>
              <a:t>
</a:t>
            </a:r>
            <a:r>
              <a:rPr b="1" sz="4500" i="0" u="none">
                <a:solidFill>
                  <a:srgbClr val="F8FAFC"/>
                </a:solidFill>
                <a:latin typeface="Poppins"/>
              </a:rPr>
              <a:t> Beep Test</a:t>
            </a:r>
          </a:p>
        </p:txBody>
      </p:sp>
      <p:sp>
        <p:nvSpPr>
          <p:cNvPr id="5" name="TextBox 4"/>
          <p:cNvSpPr txBox="1"/>
          <p:nvPr/>
        </p:nvSpPr>
        <p:spPr>
          <a:xfrm>
            <a:off x="1571625" y="3995737"/>
            <a:ext cx="9048750" cy="628650"/>
          </a:xfrm>
          <a:prstGeom prst="rect">
            <a:avLst/>
          </a:prstGeom>
          <a:noFill/>
        </p:spPr>
        <p:txBody>
          <a:bodyPr wrap="square" lIns="0" rIns="0" tIns="0" bIns="0" anchor="t">
            <a:spAutoFit/>
          </a:bodyPr>
          <a:lstStyle/>
          <a:p>
            <a:pPr algn="ctr">
              <a:lnSpc>
                <a:spcPts val="2475"/>
              </a:lnSpc>
            </a:pPr>
            <a:r>
              <a:rPr b="0" sz="1650" i="0" u="none">
                <a:solidFill>
                  <a:srgbClr val="94A3B8"/>
                </a:solidFill>
                <a:latin typeface="Plus Jakarta Sans"/>
              </a:rPr>
              <a:t>Panduan Praktis &amp; Evaluasi Daya Tahan Kardiorespirasi (VO2 Max) untuk Siswa Sekolah Menengah Pertama</a:t>
            </a:r>
          </a:p>
        </p:txBody>
      </p:sp>
      <p:pic>
        <p:nvPicPr>
          <p:cNvPr id="6" name="Picture 5" descr="image.png"/>
          <p:cNvPicPr>
            <a:picLocks noChangeAspect="1"/>
          </p:cNvPicPr>
          <p:nvPr/>
        </p:nvPicPr>
        <p:blipFill>
          <a:blip r:embed="rId4"/>
          <a:stretch>
            <a:fillRect/>
          </a:stretch>
        </p:blipFill>
        <p:spPr>
          <a:xfrm>
            <a:off x="4862512" y="2233612"/>
            <a:ext cx="161925" cy="1524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2030491" y="2838450"/>
            <a:ext cx="8131016" cy="809625"/>
          </a:xfrm>
          <a:prstGeom prst="rect">
            <a:avLst/>
          </a:prstGeom>
          <a:noFill/>
        </p:spPr>
        <p:txBody>
          <a:bodyPr wrap="square" lIns="0" rIns="0" tIns="0" bIns="0" anchor="t">
            <a:spAutoFit/>
          </a:bodyPr>
          <a:lstStyle/>
          <a:p>
            <a:pPr algn="ctr"/>
            <a:r>
              <a:rPr b="1" sz="4200" i="0" u="none">
                <a:solidFill>
                  <a:srgbClr val="F8FAFC"/>
                </a:solidFill>
                <a:latin typeface="Poppins"/>
              </a:rPr>
              <a:t>Konsep Kebugaran Jasmani</a:t>
            </a:r>
          </a:p>
        </p:txBody>
      </p:sp>
      <p:sp>
        <p:nvSpPr>
          <p:cNvPr id="4" name="TextBox 3"/>
          <p:cNvSpPr txBox="1"/>
          <p:nvPr/>
        </p:nvSpPr>
        <p:spPr>
          <a:xfrm>
            <a:off x="571500" y="3790950"/>
            <a:ext cx="11049000" cy="628650"/>
          </a:xfrm>
          <a:prstGeom prst="rect">
            <a:avLst/>
          </a:prstGeom>
          <a:noFill/>
        </p:spPr>
        <p:txBody>
          <a:bodyPr wrap="square" lIns="0" rIns="0" tIns="0" bIns="0" anchor="t">
            <a:spAutoFit/>
          </a:bodyPr>
          <a:lstStyle/>
          <a:p>
            <a:pPr algn="ctr">
              <a:lnSpc>
                <a:spcPts val="2475"/>
              </a:lnSpc>
            </a:pPr>
            <a:r>
              <a:rPr b="0" sz="1650" i="0" u="none">
                <a:solidFill>
                  <a:srgbClr val="94A3B8"/>
                </a:solidFill>
                <a:latin typeface="Plus Jakarta Sans"/>
              </a:rPr>
              <a:t>Memahami pentingnya ketahanan jantung, paru-paru, dan pembuluh darah dalam mendukung aktivitas belajar serta olahraga siswa kelas 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0" y="2128837"/>
            <a:ext cx="5334000" cy="3429000"/>
          </a:xfrm>
          <a:prstGeom prst="rect">
            <a:avLst/>
          </a:prstGeom>
        </p:spPr>
      </p:pic>
      <p:sp>
        <p:nvSpPr>
          <p:cNvPr id="4" name="TextBox 3"/>
          <p:cNvSpPr txBox="1"/>
          <p:nvPr/>
        </p:nvSpPr>
        <p:spPr>
          <a:xfrm>
            <a:off x="571500" y="2128837"/>
            <a:ext cx="5334000" cy="514350"/>
          </a:xfrm>
          <a:prstGeom prst="rect">
            <a:avLst/>
          </a:prstGeom>
          <a:noFill/>
        </p:spPr>
        <p:txBody>
          <a:bodyPr wrap="square" lIns="0" rIns="0" tIns="0" bIns="0" anchor="t">
            <a:spAutoFit/>
          </a:bodyPr>
          <a:lstStyle/>
          <a:p>
            <a:pPr algn="l">
              <a:lnSpc>
                <a:spcPts val="2025"/>
              </a:lnSpc>
            </a:pPr>
            <a:r>
              <a:rPr b="1" sz="1350" i="0" u="none">
                <a:solidFill>
                  <a:srgbClr val="CBD5E1"/>
                </a:solidFill>
                <a:latin typeface="Plus Jakarta Sans"/>
              </a:rPr>
              <a:t>Beep Test</a:t>
            </a:r>
            <a:r>
              <a:rPr b="0" sz="1350" i="0" u="none">
                <a:solidFill>
                  <a:srgbClr val="CBD5E1"/>
                </a:solidFill>
                <a:latin typeface="Plus Jakarta Sans"/>
              </a:rPr>
              <a:t> (Multistage Fitness Test / MFT) adalah tes aerobik bertahap untuk mengukur daya tahan kardiorespirasi.</a:t>
            </a:r>
          </a:p>
        </p:txBody>
      </p:sp>
      <p:sp>
        <p:nvSpPr>
          <p:cNvPr id="5" name="TextBox 4"/>
          <p:cNvSpPr txBox="1"/>
          <p:nvPr/>
        </p:nvSpPr>
        <p:spPr>
          <a:xfrm>
            <a:off x="666750" y="2757487"/>
            <a:ext cx="95250" cy="257175"/>
          </a:xfrm>
          <a:prstGeom prst="rect">
            <a:avLst/>
          </a:prstGeom>
          <a:noFill/>
        </p:spPr>
        <p:txBody>
          <a:bodyPr wrap="square" lIns="0" rIns="0" tIns="0" bIns="0" anchor="t">
            <a:spAutoFit/>
          </a:bodyPr>
          <a:lstStyle/>
          <a:p>
            <a:pPr algn="l"/>
            <a:r>
              <a:rPr b="0" sz="1350" i="0" u="none">
                <a:solidFill>
                  <a:srgbClr val="CBD5E1"/>
                </a:solidFill>
                <a:latin typeface="Plus Jakarta Sans"/>
              </a:rPr>
              <a:t>•</a:t>
            </a:r>
          </a:p>
        </p:txBody>
      </p:sp>
      <p:sp>
        <p:nvSpPr>
          <p:cNvPr id="6" name="TextBox 5"/>
          <p:cNvSpPr txBox="1"/>
          <p:nvPr/>
        </p:nvSpPr>
        <p:spPr>
          <a:xfrm>
            <a:off x="762000" y="2757487"/>
            <a:ext cx="5143500" cy="257175"/>
          </a:xfrm>
          <a:prstGeom prst="rect">
            <a:avLst/>
          </a:prstGeom>
          <a:noFill/>
        </p:spPr>
        <p:txBody>
          <a:bodyPr wrap="square" lIns="95250" rIns="0" tIns="0" bIns="0" anchor="t">
            <a:spAutoFit/>
          </a:bodyPr>
          <a:lstStyle/>
          <a:p>
            <a:pPr algn="l">
              <a:lnSpc>
                <a:spcPts val="2025"/>
              </a:lnSpc>
            </a:pPr>
            <a:r>
              <a:rPr b="0" sz="1350" i="0" u="none">
                <a:solidFill>
                  <a:srgbClr val="CBD5E1"/>
                </a:solidFill>
                <a:latin typeface="Plus Jakarta Sans"/>
              </a:rPr>
              <a:t>Peserta berlari bolak-balik antara 2 garis berjarak </a:t>
            </a:r>
            <a:r>
              <a:rPr b="1" sz="1350" i="0" u="none">
                <a:solidFill>
                  <a:srgbClr val="CBD5E1"/>
                </a:solidFill>
                <a:latin typeface="Plus Jakarta Sans"/>
              </a:rPr>
              <a:t>20 meter</a:t>
            </a:r>
            <a:r>
              <a:rPr b="0" sz="1350" i="0" u="none">
                <a:solidFill>
                  <a:srgbClr val="CBD5E1"/>
                </a:solidFill>
                <a:latin typeface="Plus Jakarta Sans"/>
              </a:rPr>
              <a:t>.</a:t>
            </a:r>
          </a:p>
        </p:txBody>
      </p:sp>
      <p:sp>
        <p:nvSpPr>
          <p:cNvPr id="7" name="TextBox 6"/>
          <p:cNvSpPr txBox="1"/>
          <p:nvPr/>
        </p:nvSpPr>
        <p:spPr>
          <a:xfrm>
            <a:off x="666750" y="3148012"/>
            <a:ext cx="95250" cy="257175"/>
          </a:xfrm>
          <a:prstGeom prst="rect">
            <a:avLst/>
          </a:prstGeom>
          <a:noFill/>
        </p:spPr>
        <p:txBody>
          <a:bodyPr wrap="square" lIns="0" rIns="0" tIns="0" bIns="0" anchor="t">
            <a:spAutoFit/>
          </a:bodyPr>
          <a:lstStyle/>
          <a:p>
            <a:pPr algn="l"/>
            <a:r>
              <a:rPr b="0" sz="1350" i="0" u="none">
                <a:solidFill>
                  <a:srgbClr val="CBD5E1"/>
                </a:solidFill>
                <a:latin typeface="Plus Jakarta Sans"/>
              </a:rPr>
              <a:t>•</a:t>
            </a:r>
          </a:p>
        </p:txBody>
      </p:sp>
      <p:sp>
        <p:nvSpPr>
          <p:cNvPr id="8" name="TextBox 7"/>
          <p:cNvSpPr txBox="1"/>
          <p:nvPr/>
        </p:nvSpPr>
        <p:spPr>
          <a:xfrm>
            <a:off x="762000" y="3148012"/>
            <a:ext cx="5143500" cy="257175"/>
          </a:xfrm>
          <a:prstGeom prst="rect">
            <a:avLst/>
          </a:prstGeom>
          <a:noFill/>
        </p:spPr>
        <p:txBody>
          <a:bodyPr wrap="square" lIns="95250" rIns="0" tIns="0" bIns="0" anchor="t">
            <a:spAutoFit/>
          </a:bodyPr>
          <a:lstStyle/>
          <a:p>
            <a:pPr algn="l">
              <a:lnSpc>
                <a:spcPts val="2025"/>
              </a:lnSpc>
            </a:pPr>
            <a:r>
              <a:rPr b="0" sz="1350" i="0" u="none">
                <a:solidFill>
                  <a:srgbClr val="CBD5E1"/>
                </a:solidFill>
                <a:latin typeface="Plus Jakarta Sans"/>
              </a:rPr>
              <a:t>Lari dilakukan mengikuti sinyal bunyi (</a:t>
            </a:r>
            <a:r>
              <a:rPr b="0" sz="1350" i="1" u="none">
                <a:solidFill>
                  <a:srgbClr val="CBD5E1"/>
                </a:solidFill>
                <a:latin typeface="Plus Jakarta Sans"/>
              </a:rPr>
              <a:t>beep</a:t>
            </a:r>
            <a:r>
              <a:rPr b="0" sz="1350" i="0" u="none">
                <a:solidFill>
                  <a:srgbClr val="CBD5E1"/>
                </a:solidFill>
                <a:latin typeface="Plus Jakarta Sans"/>
              </a:rPr>
              <a:t>) yang terekam.</a:t>
            </a:r>
          </a:p>
        </p:txBody>
      </p:sp>
      <p:sp>
        <p:nvSpPr>
          <p:cNvPr id="9" name="TextBox 8"/>
          <p:cNvSpPr txBox="1"/>
          <p:nvPr/>
        </p:nvSpPr>
        <p:spPr>
          <a:xfrm>
            <a:off x="666750" y="3538537"/>
            <a:ext cx="95250" cy="257175"/>
          </a:xfrm>
          <a:prstGeom prst="rect">
            <a:avLst/>
          </a:prstGeom>
          <a:noFill/>
        </p:spPr>
        <p:txBody>
          <a:bodyPr wrap="square" lIns="0" rIns="0" tIns="0" bIns="0" anchor="t">
            <a:spAutoFit/>
          </a:bodyPr>
          <a:lstStyle/>
          <a:p>
            <a:pPr algn="l"/>
            <a:r>
              <a:rPr b="0" sz="1350" i="0" u="none">
                <a:solidFill>
                  <a:srgbClr val="CBD5E1"/>
                </a:solidFill>
                <a:latin typeface="Plus Jakarta Sans"/>
              </a:rPr>
              <a:t>•</a:t>
            </a:r>
          </a:p>
        </p:txBody>
      </p:sp>
      <p:sp>
        <p:nvSpPr>
          <p:cNvPr id="10" name="TextBox 9"/>
          <p:cNvSpPr txBox="1"/>
          <p:nvPr/>
        </p:nvSpPr>
        <p:spPr>
          <a:xfrm>
            <a:off x="762000" y="3538537"/>
            <a:ext cx="5143500" cy="514350"/>
          </a:xfrm>
          <a:prstGeom prst="rect">
            <a:avLst/>
          </a:prstGeom>
          <a:noFill/>
        </p:spPr>
        <p:txBody>
          <a:bodyPr wrap="square" lIns="95250" rIns="0" tIns="0" bIns="0" anchor="t">
            <a:spAutoFit/>
          </a:bodyPr>
          <a:lstStyle/>
          <a:p>
            <a:pPr algn="l">
              <a:lnSpc>
                <a:spcPts val="2025"/>
              </a:lnSpc>
            </a:pPr>
            <a:r>
              <a:rPr b="0" sz="1350" i="0" u="none">
                <a:solidFill>
                  <a:srgbClr val="CBD5E1"/>
                </a:solidFill>
                <a:latin typeface="Plus Jakarta Sans"/>
              </a:rPr>
              <a:t>Kecepatan lari meningkat secara bertahap setiap 1 menit (naik level).</a:t>
            </a:r>
          </a:p>
        </p:txBody>
      </p:sp>
      <p:sp>
        <p:nvSpPr>
          <p:cNvPr id="11" name="TextBox 10"/>
          <p:cNvSpPr txBox="1"/>
          <p:nvPr/>
        </p:nvSpPr>
        <p:spPr>
          <a:xfrm>
            <a:off x="666750" y="4186237"/>
            <a:ext cx="95250" cy="257175"/>
          </a:xfrm>
          <a:prstGeom prst="rect">
            <a:avLst/>
          </a:prstGeom>
          <a:noFill/>
        </p:spPr>
        <p:txBody>
          <a:bodyPr wrap="square" lIns="0" rIns="0" tIns="0" bIns="0" anchor="t">
            <a:spAutoFit/>
          </a:bodyPr>
          <a:lstStyle/>
          <a:p>
            <a:pPr algn="l"/>
            <a:r>
              <a:rPr b="0" sz="1350" i="0" u="none">
                <a:solidFill>
                  <a:srgbClr val="CBD5E1"/>
                </a:solidFill>
                <a:latin typeface="Plus Jakarta Sans"/>
              </a:rPr>
              <a:t>•</a:t>
            </a:r>
          </a:p>
        </p:txBody>
      </p:sp>
      <p:sp>
        <p:nvSpPr>
          <p:cNvPr id="12" name="TextBox 11"/>
          <p:cNvSpPr txBox="1"/>
          <p:nvPr/>
        </p:nvSpPr>
        <p:spPr>
          <a:xfrm>
            <a:off x="762000" y="4186237"/>
            <a:ext cx="5143500" cy="514350"/>
          </a:xfrm>
          <a:prstGeom prst="rect">
            <a:avLst/>
          </a:prstGeom>
          <a:noFill/>
        </p:spPr>
        <p:txBody>
          <a:bodyPr wrap="square" lIns="95250" rIns="0" tIns="0" bIns="0" anchor="t">
            <a:spAutoFit/>
          </a:bodyPr>
          <a:lstStyle/>
          <a:p>
            <a:pPr algn="l">
              <a:lnSpc>
                <a:spcPts val="2025"/>
              </a:lnSpc>
            </a:pPr>
            <a:r>
              <a:rPr b="0" sz="1350" i="0" u="none">
                <a:solidFill>
                  <a:srgbClr val="CBD5E1"/>
                </a:solidFill>
                <a:latin typeface="Plus Jakarta Sans"/>
              </a:rPr>
              <a:t>Digunakan secara internasional untuk mengukur tingkat kebugaran umum.</a:t>
            </a:r>
          </a:p>
        </p:txBody>
      </p:sp>
      <p:pic>
        <p:nvPicPr>
          <p:cNvPr id="13" name="Picture 12" descr="image.png"/>
          <p:cNvPicPr>
            <a:picLocks noChangeAspect="1"/>
          </p:cNvPicPr>
          <p:nvPr/>
        </p:nvPicPr>
        <p:blipFill>
          <a:blip r:embed="rId4"/>
          <a:stretch>
            <a:fillRect/>
          </a:stretch>
        </p:blipFill>
        <p:spPr>
          <a:xfrm>
            <a:off x="6305550" y="2147887"/>
            <a:ext cx="5295900" cy="3390900"/>
          </a:xfrm>
          <a:prstGeom prst="rect">
            <a:avLst/>
          </a:prstGeom>
        </p:spPr>
      </p:pic>
      <p:sp>
        <p:nvSpPr>
          <p:cNvPr id="14" name="TextBox 13"/>
          <p:cNvSpPr txBox="1"/>
          <p:nvPr/>
        </p:nvSpPr>
        <p:spPr>
          <a:xfrm>
            <a:off x="571500" y="476250"/>
            <a:ext cx="11601450" cy="542925"/>
          </a:xfrm>
          <a:prstGeom prst="rect">
            <a:avLst/>
          </a:prstGeom>
          <a:noFill/>
        </p:spPr>
        <p:txBody>
          <a:bodyPr wrap="square" lIns="0" rIns="0" tIns="0" bIns="0" anchor="t">
            <a:spAutoFit/>
          </a:bodyPr>
          <a:lstStyle/>
          <a:p>
            <a:pPr algn="l"/>
            <a:r>
              <a:rPr b="1" sz="2850" i="0" u="none">
                <a:solidFill>
                  <a:srgbClr val="F8FAFC"/>
                </a:solidFill>
                <a:latin typeface="Poppins"/>
              </a:rPr>
              <a:t>Mengenal Beep Test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400300"/>
            <a:ext cx="3530649" cy="2886075"/>
          </a:xfrm>
          <a:prstGeom prst="rect">
            <a:avLst/>
          </a:prstGeom>
        </p:spPr>
      </p:pic>
      <p:pic>
        <p:nvPicPr>
          <p:cNvPr id="4" name="Picture 3" descr="image.png"/>
          <p:cNvPicPr>
            <a:picLocks noChangeAspect="1"/>
          </p:cNvPicPr>
          <p:nvPr/>
        </p:nvPicPr>
        <p:blipFill>
          <a:blip r:embed="rId4"/>
          <a:stretch>
            <a:fillRect/>
          </a:stretch>
        </p:blipFill>
        <p:spPr>
          <a:xfrm>
            <a:off x="4330749" y="2400300"/>
            <a:ext cx="3530649" cy="2886075"/>
          </a:xfrm>
          <a:prstGeom prst="rect">
            <a:avLst/>
          </a:prstGeom>
        </p:spPr>
      </p:pic>
      <p:pic>
        <p:nvPicPr>
          <p:cNvPr id="5" name="Picture 4" descr="image.png"/>
          <p:cNvPicPr>
            <a:picLocks noChangeAspect="1"/>
          </p:cNvPicPr>
          <p:nvPr/>
        </p:nvPicPr>
        <p:blipFill>
          <a:blip r:embed="rId5"/>
          <a:stretch>
            <a:fillRect/>
          </a:stretch>
        </p:blipFill>
        <p:spPr>
          <a:xfrm>
            <a:off x="8089999" y="2400300"/>
            <a:ext cx="3530649" cy="2886075"/>
          </a:xfrm>
          <a:prstGeom prst="rect">
            <a:avLst/>
          </a:prstGeom>
        </p:spPr>
      </p:pic>
      <p:pic>
        <p:nvPicPr>
          <p:cNvPr id="6" name="Picture 5" descr="image.png"/>
          <p:cNvPicPr>
            <a:picLocks noChangeAspect="1"/>
          </p:cNvPicPr>
          <p:nvPr/>
        </p:nvPicPr>
        <p:blipFill>
          <a:blip r:embed="rId6"/>
          <a:stretch>
            <a:fillRect/>
          </a:stretch>
        </p:blipFill>
        <p:spPr>
          <a:xfrm>
            <a:off x="847725" y="2676525"/>
            <a:ext cx="514350" cy="514350"/>
          </a:xfrm>
          <a:prstGeom prst="rect">
            <a:avLst/>
          </a:prstGeom>
        </p:spPr>
      </p:pic>
      <p:sp>
        <p:nvSpPr>
          <p:cNvPr id="7" name="TextBox 6"/>
          <p:cNvSpPr txBox="1"/>
          <p:nvPr/>
        </p:nvSpPr>
        <p:spPr>
          <a:xfrm>
            <a:off x="847725" y="3381375"/>
            <a:ext cx="3127109" cy="371475"/>
          </a:xfrm>
          <a:prstGeom prst="rect">
            <a:avLst/>
          </a:prstGeom>
          <a:noFill/>
        </p:spPr>
        <p:txBody>
          <a:bodyPr wrap="square" lIns="0" rIns="0" tIns="0" bIns="0" anchor="t">
            <a:spAutoFit/>
          </a:bodyPr>
          <a:lstStyle/>
          <a:p>
            <a:pPr algn="l"/>
            <a:r>
              <a:rPr b="1" sz="1950" i="0" u="none">
                <a:solidFill>
                  <a:srgbClr val="F8FAFC"/>
                </a:solidFill>
                <a:latin typeface="Poppins"/>
              </a:rPr>
              <a:t>Ukur VO2 Max</a:t>
            </a:r>
          </a:p>
        </p:txBody>
      </p:sp>
      <p:sp>
        <p:nvSpPr>
          <p:cNvPr id="8" name="TextBox 7"/>
          <p:cNvSpPr txBox="1"/>
          <p:nvPr/>
        </p:nvSpPr>
        <p:spPr>
          <a:xfrm>
            <a:off x="847725" y="3867150"/>
            <a:ext cx="2978199" cy="1028700"/>
          </a:xfrm>
          <a:prstGeom prst="rect">
            <a:avLst/>
          </a:prstGeom>
          <a:noFill/>
        </p:spPr>
        <p:txBody>
          <a:bodyPr wrap="square" lIns="0" rIns="0" tIns="0" bIns="0" anchor="t">
            <a:spAutoFit/>
          </a:bodyPr>
          <a:lstStyle/>
          <a:p>
            <a:pPr algn="l">
              <a:lnSpc>
                <a:spcPts val="2025"/>
              </a:lnSpc>
            </a:pPr>
            <a:r>
              <a:rPr b="0" sz="1350" i="0" u="none">
                <a:solidFill>
                  <a:srgbClr val="CBD5E1"/>
                </a:solidFill>
                <a:latin typeface="Plus Jakarta Sans"/>
              </a:rPr>
              <a:t>Memberikan estimasi kemampuan maksimal paru-paru dan jantung dalam mengonsumsi oksigen saat beraktivitas berat.</a:t>
            </a:r>
          </a:p>
        </p:txBody>
      </p:sp>
      <p:pic>
        <p:nvPicPr>
          <p:cNvPr id="9" name="Picture 8" descr="image.png"/>
          <p:cNvPicPr>
            <a:picLocks noChangeAspect="1"/>
          </p:cNvPicPr>
          <p:nvPr/>
        </p:nvPicPr>
        <p:blipFill>
          <a:blip r:embed="rId7"/>
          <a:stretch>
            <a:fillRect/>
          </a:stretch>
        </p:blipFill>
        <p:spPr>
          <a:xfrm>
            <a:off x="4606974" y="2676525"/>
            <a:ext cx="514350" cy="514350"/>
          </a:xfrm>
          <a:prstGeom prst="rect">
            <a:avLst/>
          </a:prstGeom>
        </p:spPr>
      </p:pic>
      <p:sp>
        <p:nvSpPr>
          <p:cNvPr id="10" name="TextBox 9"/>
          <p:cNvSpPr txBox="1"/>
          <p:nvPr/>
        </p:nvSpPr>
        <p:spPr>
          <a:xfrm>
            <a:off x="4606974" y="3381375"/>
            <a:ext cx="3127109" cy="371475"/>
          </a:xfrm>
          <a:prstGeom prst="rect">
            <a:avLst/>
          </a:prstGeom>
          <a:noFill/>
        </p:spPr>
        <p:txBody>
          <a:bodyPr wrap="square" lIns="0" rIns="0" tIns="0" bIns="0" anchor="t">
            <a:spAutoFit/>
          </a:bodyPr>
          <a:lstStyle/>
          <a:p>
            <a:pPr algn="l"/>
            <a:r>
              <a:rPr b="1" sz="1950" i="0" u="none">
                <a:solidFill>
                  <a:srgbClr val="F8FAFC"/>
                </a:solidFill>
                <a:latin typeface="Poppins"/>
              </a:rPr>
              <a:t>Evaluasi Fisik</a:t>
            </a:r>
          </a:p>
        </p:txBody>
      </p:sp>
      <p:sp>
        <p:nvSpPr>
          <p:cNvPr id="11" name="TextBox 10"/>
          <p:cNvSpPr txBox="1"/>
          <p:nvPr/>
        </p:nvSpPr>
        <p:spPr>
          <a:xfrm>
            <a:off x="4606974" y="3867150"/>
            <a:ext cx="2978199" cy="771525"/>
          </a:xfrm>
          <a:prstGeom prst="rect">
            <a:avLst/>
          </a:prstGeom>
          <a:noFill/>
        </p:spPr>
        <p:txBody>
          <a:bodyPr wrap="square" lIns="0" rIns="0" tIns="0" bIns="0" anchor="t">
            <a:spAutoFit/>
          </a:bodyPr>
          <a:lstStyle/>
          <a:p>
            <a:pPr algn="l">
              <a:lnSpc>
                <a:spcPts val="2025"/>
              </a:lnSpc>
            </a:pPr>
            <a:r>
              <a:rPr b="0" sz="1350" i="0" u="none">
                <a:solidFill>
                  <a:srgbClr val="CBD5E1"/>
                </a:solidFill>
                <a:latin typeface="Plus Jakarta Sans"/>
              </a:rPr>
              <a:t>Mengetahui sejauh mana tingkat kebugaran jasmani siswa dibanding standar norma usianya (14-15 tahun).</a:t>
            </a:r>
          </a:p>
        </p:txBody>
      </p:sp>
      <p:pic>
        <p:nvPicPr>
          <p:cNvPr id="12" name="Picture 11" descr="image.png"/>
          <p:cNvPicPr>
            <a:picLocks noChangeAspect="1"/>
          </p:cNvPicPr>
          <p:nvPr/>
        </p:nvPicPr>
        <p:blipFill>
          <a:blip r:embed="rId8"/>
          <a:stretch>
            <a:fillRect/>
          </a:stretch>
        </p:blipFill>
        <p:spPr>
          <a:xfrm>
            <a:off x="8366224" y="2676525"/>
            <a:ext cx="514350" cy="514350"/>
          </a:xfrm>
          <a:prstGeom prst="rect">
            <a:avLst/>
          </a:prstGeom>
        </p:spPr>
      </p:pic>
      <p:sp>
        <p:nvSpPr>
          <p:cNvPr id="13" name="TextBox 12"/>
          <p:cNvSpPr txBox="1"/>
          <p:nvPr/>
        </p:nvSpPr>
        <p:spPr>
          <a:xfrm>
            <a:off x="8366224" y="3381375"/>
            <a:ext cx="3127109" cy="371475"/>
          </a:xfrm>
          <a:prstGeom prst="rect">
            <a:avLst/>
          </a:prstGeom>
          <a:noFill/>
        </p:spPr>
        <p:txBody>
          <a:bodyPr wrap="square" lIns="0" rIns="0" tIns="0" bIns="0" anchor="t">
            <a:spAutoFit/>
          </a:bodyPr>
          <a:lstStyle/>
          <a:p>
            <a:pPr algn="l"/>
            <a:r>
              <a:rPr b="1" sz="1950" i="0" u="none">
                <a:solidFill>
                  <a:srgbClr val="F8FAFC"/>
                </a:solidFill>
                <a:latin typeface="Poppins"/>
              </a:rPr>
              <a:t>Motivasi Latihan</a:t>
            </a:r>
          </a:p>
        </p:txBody>
      </p:sp>
      <p:sp>
        <p:nvSpPr>
          <p:cNvPr id="14" name="TextBox 13"/>
          <p:cNvSpPr txBox="1"/>
          <p:nvPr/>
        </p:nvSpPr>
        <p:spPr>
          <a:xfrm>
            <a:off x="8366224" y="3867150"/>
            <a:ext cx="2978199" cy="771525"/>
          </a:xfrm>
          <a:prstGeom prst="rect">
            <a:avLst/>
          </a:prstGeom>
          <a:noFill/>
        </p:spPr>
        <p:txBody>
          <a:bodyPr wrap="square" lIns="0" rIns="0" tIns="0" bIns="0" anchor="t">
            <a:spAutoFit/>
          </a:bodyPr>
          <a:lstStyle/>
          <a:p>
            <a:pPr algn="l">
              <a:lnSpc>
                <a:spcPts val="2025"/>
              </a:lnSpc>
            </a:pPr>
            <a:r>
              <a:rPr b="0" sz="1350" i="0" u="none">
                <a:solidFill>
                  <a:srgbClr val="CBD5E1"/>
                </a:solidFill>
                <a:latin typeface="Plus Jakarta Sans"/>
              </a:rPr>
              <a:t>Menjadi acuan dasar dalam menyusun target latihan olahraga harian dan gaya hidup sehat mandiri.</a:t>
            </a:r>
          </a:p>
        </p:txBody>
      </p:sp>
      <p:pic>
        <p:nvPicPr>
          <p:cNvPr id="15" name="Picture 14" descr="image.png"/>
          <p:cNvPicPr>
            <a:picLocks noChangeAspect="1"/>
          </p:cNvPicPr>
          <p:nvPr/>
        </p:nvPicPr>
        <p:blipFill>
          <a:blip r:embed="rId9"/>
          <a:stretch>
            <a:fillRect/>
          </a:stretch>
        </p:blipFill>
        <p:spPr>
          <a:xfrm>
            <a:off x="4730799" y="2800350"/>
            <a:ext cx="266700" cy="266700"/>
          </a:xfrm>
          <a:prstGeom prst="rect">
            <a:avLst/>
          </a:prstGeom>
        </p:spPr>
      </p:pic>
      <p:pic>
        <p:nvPicPr>
          <p:cNvPr id="16" name="Picture 15" descr="image.png"/>
          <p:cNvPicPr>
            <a:picLocks noChangeAspect="1"/>
          </p:cNvPicPr>
          <p:nvPr/>
        </p:nvPicPr>
        <p:blipFill>
          <a:blip r:embed="rId10"/>
          <a:stretch>
            <a:fillRect/>
          </a:stretch>
        </p:blipFill>
        <p:spPr>
          <a:xfrm>
            <a:off x="8490049" y="2800350"/>
            <a:ext cx="266700" cy="266700"/>
          </a:xfrm>
          <a:prstGeom prst="rect">
            <a:avLst/>
          </a:prstGeom>
        </p:spPr>
      </p:pic>
      <p:sp>
        <p:nvSpPr>
          <p:cNvPr id="17" name="TextBox 16"/>
          <p:cNvSpPr txBox="1"/>
          <p:nvPr/>
        </p:nvSpPr>
        <p:spPr>
          <a:xfrm>
            <a:off x="571500" y="476250"/>
            <a:ext cx="11601450" cy="542925"/>
          </a:xfrm>
          <a:prstGeom prst="rect">
            <a:avLst/>
          </a:prstGeom>
          <a:noFill/>
        </p:spPr>
        <p:txBody>
          <a:bodyPr wrap="square" lIns="0" rIns="0" tIns="0" bIns="0" anchor="t">
            <a:spAutoFit/>
          </a:bodyPr>
          <a:lstStyle/>
          <a:p>
            <a:pPr algn="l"/>
            <a:r>
              <a:rPr b="1" sz="2850" i="0" u="none">
                <a:solidFill>
                  <a:srgbClr val="F8FAFC"/>
                </a:solidFill>
                <a:latin typeface="Poppins"/>
              </a:rPr>
              <a:t>Manfaat Tes Bagi Siswa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0" y="2128837"/>
            <a:ext cx="5334000" cy="3429000"/>
          </a:xfrm>
          <a:prstGeom prst="rect">
            <a:avLst/>
          </a:prstGeom>
        </p:spPr>
      </p:pic>
      <p:sp>
        <p:nvSpPr>
          <p:cNvPr id="4" name="TextBox 3"/>
          <p:cNvSpPr txBox="1"/>
          <p:nvPr/>
        </p:nvSpPr>
        <p:spPr>
          <a:xfrm>
            <a:off x="571500" y="2128837"/>
            <a:ext cx="5334000" cy="514350"/>
          </a:xfrm>
          <a:prstGeom prst="rect">
            <a:avLst/>
          </a:prstGeom>
          <a:noFill/>
        </p:spPr>
        <p:txBody>
          <a:bodyPr wrap="square" lIns="0" rIns="0" tIns="0" bIns="0" anchor="t">
            <a:spAutoFit/>
          </a:bodyPr>
          <a:lstStyle/>
          <a:p>
            <a:pPr algn="l">
              <a:lnSpc>
                <a:spcPts val="2025"/>
              </a:lnSpc>
            </a:pPr>
            <a:r>
              <a:rPr b="0" sz="1350" i="0" u="none">
                <a:solidFill>
                  <a:srgbClr val="CBD5E1"/>
                </a:solidFill>
                <a:latin typeface="Plus Jakarta Sans"/>
              </a:rPr>
              <a:t>Untuk melaksanakan Beep Test secara akurat, dibutuhkan beberapa peralatan sederhana:</a:t>
            </a:r>
          </a:p>
        </p:txBody>
      </p:sp>
      <p:sp>
        <p:nvSpPr>
          <p:cNvPr id="5" name="TextBox 4"/>
          <p:cNvSpPr txBox="1"/>
          <p:nvPr/>
        </p:nvSpPr>
        <p:spPr>
          <a:xfrm>
            <a:off x="666750" y="2757487"/>
            <a:ext cx="95250" cy="257175"/>
          </a:xfrm>
          <a:prstGeom prst="rect">
            <a:avLst/>
          </a:prstGeom>
          <a:noFill/>
        </p:spPr>
        <p:txBody>
          <a:bodyPr wrap="square" lIns="0" rIns="0" tIns="0" bIns="0" anchor="t">
            <a:spAutoFit/>
          </a:bodyPr>
          <a:lstStyle/>
          <a:p>
            <a:pPr algn="l"/>
            <a:r>
              <a:rPr b="0" sz="1350" i="0" u="none">
                <a:solidFill>
                  <a:srgbClr val="CBD5E1"/>
                </a:solidFill>
                <a:latin typeface="Plus Jakarta Sans"/>
              </a:rPr>
              <a:t>•</a:t>
            </a:r>
          </a:p>
        </p:txBody>
      </p:sp>
      <p:sp>
        <p:nvSpPr>
          <p:cNvPr id="6" name="TextBox 5"/>
          <p:cNvSpPr txBox="1"/>
          <p:nvPr/>
        </p:nvSpPr>
        <p:spPr>
          <a:xfrm>
            <a:off x="762000" y="2757487"/>
            <a:ext cx="5143500" cy="514350"/>
          </a:xfrm>
          <a:prstGeom prst="rect">
            <a:avLst/>
          </a:prstGeom>
          <a:noFill/>
        </p:spPr>
        <p:txBody>
          <a:bodyPr wrap="square" lIns="95250" rIns="0" tIns="0" bIns="0" anchor="t">
            <a:spAutoFit/>
          </a:bodyPr>
          <a:lstStyle/>
          <a:p>
            <a:pPr algn="l">
              <a:lnSpc>
                <a:spcPts val="2025"/>
              </a:lnSpc>
            </a:pPr>
            <a:r>
              <a:rPr b="1" sz="1350" i="0" u="none">
                <a:solidFill>
                  <a:srgbClr val="CBD5E1"/>
                </a:solidFill>
                <a:latin typeface="Plus Jakarta Sans"/>
              </a:rPr>
              <a:t>Lintasan Datar:</a:t>
            </a:r>
            <a:r>
              <a:rPr b="0" sz="1350" i="0" u="none">
                <a:solidFill>
                  <a:srgbClr val="CBD5E1"/>
                </a:solidFill>
                <a:latin typeface="Plus Jakarta Sans"/>
              </a:rPr>
              <a:t> Area rata dan tidak licin sepanjang minimal 20 meter (lapangan/hall).</a:t>
            </a:r>
          </a:p>
        </p:txBody>
      </p:sp>
      <p:sp>
        <p:nvSpPr>
          <p:cNvPr id="7" name="TextBox 6"/>
          <p:cNvSpPr txBox="1"/>
          <p:nvPr/>
        </p:nvSpPr>
        <p:spPr>
          <a:xfrm>
            <a:off x="666750" y="3405187"/>
            <a:ext cx="95250" cy="257175"/>
          </a:xfrm>
          <a:prstGeom prst="rect">
            <a:avLst/>
          </a:prstGeom>
          <a:noFill/>
        </p:spPr>
        <p:txBody>
          <a:bodyPr wrap="square" lIns="0" rIns="0" tIns="0" bIns="0" anchor="t">
            <a:spAutoFit/>
          </a:bodyPr>
          <a:lstStyle/>
          <a:p>
            <a:pPr algn="l"/>
            <a:r>
              <a:rPr b="0" sz="1350" i="0" u="none">
                <a:solidFill>
                  <a:srgbClr val="CBD5E1"/>
                </a:solidFill>
                <a:latin typeface="Plus Jakarta Sans"/>
              </a:rPr>
              <a:t>•</a:t>
            </a:r>
          </a:p>
        </p:txBody>
      </p:sp>
      <p:sp>
        <p:nvSpPr>
          <p:cNvPr id="8" name="TextBox 7"/>
          <p:cNvSpPr txBox="1"/>
          <p:nvPr/>
        </p:nvSpPr>
        <p:spPr>
          <a:xfrm>
            <a:off x="762000" y="3405187"/>
            <a:ext cx="5143500" cy="257175"/>
          </a:xfrm>
          <a:prstGeom prst="rect">
            <a:avLst/>
          </a:prstGeom>
          <a:noFill/>
        </p:spPr>
        <p:txBody>
          <a:bodyPr wrap="square" lIns="95250" rIns="0" tIns="0" bIns="0" anchor="t">
            <a:spAutoFit/>
          </a:bodyPr>
          <a:lstStyle/>
          <a:p>
            <a:pPr algn="l">
              <a:lnSpc>
                <a:spcPts val="2025"/>
              </a:lnSpc>
            </a:pPr>
            <a:r>
              <a:rPr b="1" sz="1350" i="0" u="none">
                <a:solidFill>
                  <a:srgbClr val="CBD5E1"/>
                </a:solidFill>
                <a:latin typeface="Plus Jakarta Sans"/>
              </a:rPr>
              <a:t>Kerucut / Cones:</a:t>
            </a:r>
            <a:r>
              <a:rPr b="0" sz="1350" i="0" u="none">
                <a:solidFill>
                  <a:srgbClr val="CBD5E1"/>
                </a:solidFill>
                <a:latin typeface="Plus Jakarta Sans"/>
              </a:rPr>
              <a:t> Pembatas garis start dan garis finis.</a:t>
            </a:r>
          </a:p>
        </p:txBody>
      </p:sp>
      <p:sp>
        <p:nvSpPr>
          <p:cNvPr id="9" name="TextBox 8"/>
          <p:cNvSpPr txBox="1"/>
          <p:nvPr/>
        </p:nvSpPr>
        <p:spPr>
          <a:xfrm>
            <a:off x="666750" y="3795712"/>
            <a:ext cx="95250" cy="257175"/>
          </a:xfrm>
          <a:prstGeom prst="rect">
            <a:avLst/>
          </a:prstGeom>
          <a:noFill/>
        </p:spPr>
        <p:txBody>
          <a:bodyPr wrap="square" lIns="0" rIns="0" tIns="0" bIns="0" anchor="t">
            <a:spAutoFit/>
          </a:bodyPr>
          <a:lstStyle/>
          <a:p>
            <a:pPr algn="l"/>
            <a:r>
              <a:rPr b="0" sz="1350" i="0" u="none">
                <a:solidFill>
                  <a:srgbClr val="CBD5E1"/>
                </a:solidFill>
                <a:latin typeface="Plus Jakarta Sans"/>
              </a:rPr>
              <a:t>•</a:t>
            </a:r>
          </a:p>
        </p:txBody>
      </p:sp>
      <p:sp>
        <p:nvSpPr>
          <p:cNvPr id="10" name="TextBox 9"/>
          <p:cNvSpPr txBox="1"/>
          <p:nvPr/>
        </p:nvSpPr>
        <p:spPr>
          <a:xfrm>
            <a:off x="762000" y="3795712"/>
            <a:ext cx="5143500" cy="514350"/>
          </a:xfrm>
          <a:prstGeom prst="rect">
            <a:avLst/>
          </a:prstGeom>
          <a:noFill/>
        </p:spPr>
        <p:txBody>
          <a:bodyPr wrap="square" lIns="95250" rIns="0" tIns="0" bIns="0" anchor="t">
            <a:spAutoFit/>
          </a:bodyPr>
          <a:lstStyle/>
          <a:p>
            <a:pPr algn="l">
              <a:lnSpc>
                <a:spcPts val="2025"/>
              </a:lnSpc>
            </a:pPr>
            <a:r>
              <a:rPr b="1" sz="1350" i="0" u="none">
                <a:solidFill>
                  <a:srgbClr val="CBD5E1"/>
                </a:solidFill>
                <a:latin typeface="Plus Jakarta Sans"/>
              </a:rPr>
              <a:t>Perangkat Audio:</a:t>
            </a:r>
            <a:r>
              <a:rPr b="0" sz="1350" i="0" u="none">
                <a:solidFill>
                  <a:srgbClr val="CBD5E1"/>
                </a:solidFill>
                <a:latin typeface="Plus Jakarta Sans"/>
              </a:rPr>
              <a:t> Speaker dan audio mp3 resmi instruksi Beep Test.</a:t>
            </a:r>
          </a:p>
        </p:txBody>
      </p:sp>
      <p:sp>
        <p:nvSpPr>
          <p:cNvPr id="11" name="TextBox 10"/>
          <p:cNvSpPr txBox="1"/>
          <p:nvPr/>
        </p:nvSpPr>
        <p:spPr>
          <a:xfrm>
            <a:off x="666750" y="4443412"/>
            <a:ext cx="95250" cy="257175"/>
          </a:xfrm>
          <a:prstGeom prst="rect">
            <a:avLst/>
          </a:prstGeom>
          <a:noFill/>
        </p:spPr>
        <p:txBody>
          <a:bodyPr wrap="square" lIns="0" rIns="0" tIns="0" bIns="0" anchor="t">
            <a:spAutoFit/>
          </a:bodyPr>
          <a:lstStyle/>
          <a:p>
            <a:pPr algn="l"/>
            <a:r>
              <a:rPr b="0" sz="1350" i="0" u="none">
                <a:solidFill>
                  <a:srgbClr val="CBD5E1"/>
                </a:solidFill>
                <a:latin typeface="Plus Jakarta Sans"/>
              </a:rPr>
              <a:t>•</a:t>
            </a:r>
          </a:p>
        </p:txBody>
      </p:sp>
      <p:sp>
        <p:nvSpPr>
          <p:cNvPr id="12" name="TextBox 11"/>
          <p:cNvSpPr txBox="1"/>
          <p:nvPr/>
        </p:nvSpPr>
        <p:spPr>
          <a:xfrm>
            <a:off x="762000" y="4443412"/>
            <a:ext cx="5143500" cy="514350"/>
          </a:xfrm>
          <a:prstGeom prst="rect">
            <a:avLst/>
          </a:prstGeom>
          <a:noFill/>
        </p:spPr>
        <p:txBody>
          <a:bodyPr wrap="square" lIns="95250" rIns="0" tIns="0" bIns="0" anchor="t">
            <a:spAutoFit/>
          </a:bodyPr>
          <a:lstStyle/>
          <a:p>
            <a:pPr algn="l">
              <a:lnSpc>
                <a:spcPts val="2025"/>
              </a:lnSpc>
            </a:pPr>
            <a:r>
              <a:rPr b="1" sz="1350" i="0" u="none">
                <a:solidFill>
                  <a:srgbClr val="CBD5E1"/>
                </a:solidFill>
                <a:latin typeface="Plus Jakarta Sans"/>
              </a:rPr>
              <a:t>Formulir Penilaian:</a:t>
            </a:r>
            <a:r>
              <a:rPr b="0" sz="1350" i="0" u="none">
                <a:solidFill>
                  <a:srgbClr val="CBD5E1"/>
                </a:solidFill>
                <a:latin typeface="Plus Jakarta Sans"/>
              </a:rPr>
              <a:t> Lembar pencatat level dan shuttle (balikan) siswa.</a:t>
            </a:r>
          </a:p>
        </p:txBody>
      </p:sp>
      <p:pic>
        <p:nvPicPr>
          <p:cNvPr id="13" name="Picture 12" descr="image.png"/>
          <p:cNvPicPr>
            <a:picLocks noChangeAspect="1"/>
          </p:cNvPicPr>
          <p:nvPr/>
        </p:nvPicPr>
        <p:blipFill>
          <a:blip r:embed="rId4"/>
          <a:stretch>
            <a:fillRect/>
          </a:stretch>
        </p:blipFill>
        <p:spPr>
          <a:xfrm>
            <a:off x="6305550" y="2147887"/>
            <a:ext cx="5295900" cy="3390900"/>
          </a:xfrm>
          <a:prstGeom prst="rect">
            <a:avLst/>
          </a:prstGeom>
        </p:spPr>
      </p:pic>
      <p:sp>
        <p:nvSpPr>
          <p:cNvPr id="14" name="TextBox 13"/>
          <p:cNvSpPr txBox="1"/>
          <p:nvPr/>
        </p:nvSpPr>
        <p:spPr>
          <a:xfrm>
            <a:off x="571500" y="476250"/>
            <a:ext cx="11601450" cy="542925"/>
          </a:xfrm>
          <a:prstGeom prst="rect">
            <a:avLst/>
          </a:prstGeom>
          <a:noFill/>
        </p:spPr>
        <p:txBody>
          <a:bodyPr wrap="square" lIns="0" rIns="0" tIns="0" bIns="0" anchor="t">
            <a:spAutoFit/>
          </a:bodyPr>
          <a:lstStyle/>
          <a:p>
            <a:pPr algn="l"/>
            <a:r>
              <a:rPr b="1" sz="2850" i="0" u="none">
                <a:solidFill>
                  <a:srgbClr val="F8FAFC"/>
                </a:solidFill>
                <a:latin typeface="Poppins"/>
              </a:rPr>
              <a:t>Sarana &amp; Prasarana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1762125" y="2819400"/>
            <a:ext cx="9096375" cy="257175"/>
          </a:xfrm>
          <a:prstGeom prst="rect">
            <a:avLst/>
          </a:prstGeom>
          <a:noFill/>
        </p:spPr>
        <p:txBody>
          <a:bodyPr wrap="square" lIns="0" rIns="0" tIns="0" bIns="0" anchor="t">
            <a:spAutoFit/>
          </a:bodyPr>
          <a:lstStyle/>
          <a:p>
            <a:pPr algn="l">
              <a:lnSpc>
                <a:spcPts val="2025"/>
              </a:lnSpc>
            </a:pPr>
            <a:r>
              <a:rPr b="1" sz="1350" i="0" u="none">
                <a:solidFill>
                  <a:srgbClr val="F8FAFC"/>
                </a:solidFill>
                <a:latin typeface="Plus Jakarta Sans"/>
              </a:rPr>
              <a:t>Posisi Awal:</a:t>
            </a:r>
            <a:r>
              <a:rPr b="0" sz="1350" i="0" u="none">
                <a:solidFill>
                  <a:srgbClr val="CBD5E1"/>
                </a:solidFill>
                <a:latin typeface="Plus Jakarta Sans"/>
              </a:rPr>
              <a:t> Berdiri di belakang garis start menghadap garis seberang, menunggu aba-aba dari audio.</a:t>
            </a:r>
          </a:p>
        </p:txBody>
      </p:sp>
      <p:sp>
        <p:nvSpPr>
          <p:cNvPr id="4" name="TextBox 3"/>
          <p:cNvSpPr txBox="1"/>
          <p:nvPr/>
        </p:nvSpPr>
        <p:spPr>
          <a:xfrm>
            <a:off x="1762125" y="3267075"/>
            <a:ext cx="9096375" cy="257175"/>
          </a:xfrm>
          <a:prstGeom prst="rect">
            <a:avLst/>
          </a:prstGeom>
          <a:noFill/>
        </p:spPr>
        <p:txBody>
          <a:bodyPr wrap="square" lIns="0" rIns="0" tIns="0" bIns="0" anchor="t">
            <a:spAutoFit/>
          </a:bodyPr>
          <a:lstStyle/>
          <a:p>
            <a:pPr algn="l">
              <a:lnSpc>
                <a:spcPts val="2025"/>
              </a:lnSpc>
            </a:pPr>
            <a:r>
              <a:rPr b="1" sz="1350" i="0" u="none">
                <a:solidFill>
                  <a:srgbClr val="F8FAFC"/>
                </a:solidFill>
                <a:latin typeface="Plus Jakarta Sans"/>
              </a:rPr>
              <a:t>Mengikuti Bunyi:</a:t>
            </a:r>
            <a:r>
              <a:rPr b="0" sz="1350" i="0" u="none">
                <a:solidFill>
                  <a:srgbClr val="CBD5E1"/>
                </a:solidFill>
                <a:latin typeface="Plus Jakarta Sans"/>
              </a:rPr>
              <a:t> Lari menuju garis 20m dan capai sebelum atau bersamaan dengan bunyi "beep".</a:t>
            </a:r>
          </a:p>
        </p:txBody>
      </p:sp>
      <p:sp>
        <p:nvSpPr>
          <p:cNvPr id="5" name="TextBox 4"/>
          <p:cNvSpPr txBox="1"/>
          <p:nvPr/>
        </p:nvSpPr>
        <p:spPr>
          <a:xfrm>
            <a:off x="1762125" y="3714750"/>
            <a:ext cx="9096375" cy="257175"/>
          </a:xfrm>
          <a:prstGeom prst="rect">
            <a:avLst/>
          </a:prstGeom>
          <a:noFill/>
        </p:spPr>
        <p:txBody>
          <a:bodyPr wrap="square" lIns="0" rIns="0" tIns="0" bIns="0" anchor="t">
            <a:spAutoFit/>
          </a:bodyPr>
          <a:lstStyle/>
          <a:p>
            <a:pPr algn="l">
              <a:lnSpc>
                <a:spcPts val="2025"/>
              </a:lnSpc>
            </a:pPr>
            <a:r>
              <a:rPr b="1" sz="1350" i="0" u="none">
                <a:solidFill>
                  <a:srgbClr val="F8FAFC"/>
                </a:solidFill>
                <a:latin typeface="Plus Jakarta Sans"/>
              </a:rPr>
              <a:t>Peningkatan Kecepatan:</a:t>
            </a:r>
            <a:r>
              <a:rPr b="0" sz="1350" i="0" u="none">
                <a:solidFill>
                  <a:srgbClr val="CBD5E1"/>
                </a:solidFill>
                <a:latin typeface="Plus Jakarta Sans"/>
              </a:rPr>
              <a:t> Setiap menit (perubahan level), interval waktu antar "beep" menjadi lebih singkat.</a:t>
            </a:r>
          </a:p>
        </p:txBody>
      </p:sp>
      <p:sp>
        <p:nvSpPr>
          <p:cNvPr id="6" name="TextBox 5"/>
          <p:cNvSpPr txBox="1"/>
          <p:nvPr/>
        </p:nvSpPr>
        <p:spPr>
          <a:xfrm>
            <a:off x="1762125" y="4162425"/>
            <a:ext cx="9096375" cy="514350"/>
          </a:xfrm>
          <a:prstGeom prst="rect">
            <a:avLst/>
          </a:prstGeom>
          <a:noFill/>
        </p:spPr>
        <p:txBody>
          <a:bodyPr wrap="square" lIns="0" rIns="0" tIns="0" bIns="0" anchor="t">
            <a:spAutoFit/>
          </a:bodyPr>
          <a:lstStyle/>
          <a:p>
            <a:pPr algn="l">
              <a:lnSpc>
                <a:spcPts val="2025"/>
              </a:lnSpc>
            </a:pPr>
            <a:r>
              <a:rPr b="1" sz="1350" i="0" u="none">
                <a:solidFill>
                  <a:srgbClr val="F8FAFC"/>
                </a:solidFill>
                <a:latin typeface="Plus Jakarta Sans"/>
              </a:rPr>
              <a:t>Kriteria Berhenti:</a:t>
            </a:r>
            <a:r>
              <a:rPr b="0" sz="1350" i="0" u="none">
                <a:solidFill>
                  <a:srgbClr val="CBD5E1"/>
                </a:solidFill>
                <a:latin typeface="Plus Jakarta Sans"/>
              </a:rPr>
              <a:t> Tes berakhir jika siswa mundur sukarela atau 2 kali berturut-turut gagal mencapai garis saat "beep".</a:t>
            </a:r>
          </a:p>
        </p:txBody>
      </p:sp>
      <p:pic>
        <p:nvPicPr>
          <p:cNvPr id="7" name="Picture 6" descr="image.png"/>
          <p:cNvPicPr>
            <a:picLocks noChangeAspect="1"/>
          </p:cNvPicPr>
          <p:nvPr/>
        </p:nvPicPr>
        <p:blipFill>
          <a:blip r:embed="rId3"/>
          <a:stretch>
            <a:fillRect/>
          </a:stretch>
        </p:blipFill>
        <p:spPr>
          <a:xfrm>
            <a:off x="1333500" y="2843212"/>
            <a:ext cx="180975" cy="219075"/>
          </a:xfrm>
          <a:prstGeom prst="rect">
            <a:avLst/>
          </a:prstGeom>
        </p:spPr>
      </p:pic>
      <p:pic>
        <p:nvPicPr>
          <p:cNvPr id="8" name="Picture 7" descr="image.png"/>
          <p:cNvPicPr>
            <a:picLocks noChangeAspect="1"/>
          </p:cNvPicPr>
          <p:nvPr/>
        </p:nvPicPr>
        <p:blipFill>
          <a:blip r:embed="rId4"/>
          <a:stretch>
            <a:fillRect/>
          </a:stretch>
        </p:blipFill>
        <p:spPr>
          <a:xfrm>
            <a:off x="1333500" y="3290887"/>
            <a:ext cx="180975" cy="219075"/>
          </a:xfrm>
          <a:prstGeom prst="rect">
            <a:avLst/>
          </a:prstGeom>
        </p:spPr>
      </p:pic>
      <p:pic>
        <p:nvPicPr>
          <p:cNvPr id="9" name="Picture 8" descr="image.png"/>
          <p:cNvPicPr>
            <a:picLocks noChangeAspect="1"/>
          </p:cNvPicPr>
          <p:nvPr/>
        </p:nvPicPr>
        <p:blipFill>
          <a:blip r:embed="rId5"/>
          <a:stretch>
            <a:fillRect/>
          </a:stretch>
        </p:blipFill>
        <p:spPr>
          <a:xfrm>
            <a:off x="1333500" y="3738562"/>
            <a:ext cx="209550" cy="219075"/>
          </a:xfrm>
          <a:prstGeom prst="rect">
            <a:avLst/>
          </a:prstGeom>
        </p:spPr>
      </p:pic>
      <p:pic>
        <p:nvPicPr>
          <p:cNvPr id="10" name="Picture 9" descr="image.png"/>
          <p:cNvPicPr>
            <a:picLocks noChangeAspect="1"/>
          </p:cNvPicPr>
          <p:nvPr/>
        </p:nvPicPr>
        <p:blipFill>
          <a:blip r:embed="rId6"/>
          <a:stretch>
            <a:fillRect/>
          </a:stretch>
        </p:blipFill>
        <p:spPr>
          <a:xfrm>
            <a:off x="1333500" y="4186237"/>
            <a:ext cx="209550" cy="219075"/>
          </a:xfrm>
          <a:prstGeom prst="rect">
            <a:avLst/>
          </a:prstGeom>
        </p:spPr>
      </p:pic>
      <p:sp>
        <p:nvSpPr>
          <p:cNvPr id="11" name="TextBox 10"/>
          <p:cNvSpPr txBox="1"/>
          <p:nvPr/>
        </p:nvSpPr>
        <p:spPr>
          <a:xfrm>
            <a:off x="571500" y="476250"/>
            <a:ext cx="11601450" cy="542925"/>
          </a:xfrm>
          <a:prstGeom prst="rect">
            <a:avLst/>
          </a:prstGeom>
          <a:noFill/>
        </p:spPr>
        <p:txBody>
          <a:bodyPr wrap="square" lIns="0" rIns="0" tIns="0" bIns="0" anchor="t">
            <a:spAutoFit/>
          </a:bodyPr>
          <a:lstStyle/>
          <a:p>
            <a:pPr algn="l"/>
            <a:r>
              <a:rPr b="1" sz="2850" i="0" u="none">
                <a:solidFill>
                  <a:srgbClr val="F8FAFC"/>
                </a:solidFill>
                <a:latin typeface="Poppins"/>
              </a:rPr>
              <a:t>Prosedur Pelaksanaan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graphicFrame>
        <p:nvGraphicFramePr>
          <p:cNvPr id="3" name="Table 2"/>
          <p:cNvGraphicFramePr>
            <a:graphicFrameLocks noGrp="1"/>
          </p:cNvGraphicFramePr>
          <p:nvPr/>
        </p:nvGraphicFramePr>
        <p:xfrm>
          <a:off x="571500" y="2028825"/>
          <a:ext cx="11048998" cy="3629025"/>
        </p:xfrm>
        <a:graphic>
          <a:graphicData uri="http://schemas.openxmlformats.org/drawingml/2006/table">
            <a:tbl>
              <a:tblPr firstRow="1" bandRow="1">
                <a:tableStyleId>{5C22544A-7EE6-4342-B048-85BDC9FD1C3A}</a:tableStyleId>
                <a:lnL>
                  <a:noFill/>
                </a:lnL>
                <a:lnR>
                  <a:noFill/>
                </a:lnR>
                <a:lnT>
                  <a:noFill/>
                </a:lnT>
                <a:lnB>
                  <a:noFill/>
                </a:lnB>
                <a:lnV>
                  <a:noFill/>
                </a:lnV>
                <a:lnH>
                  <a:noFill/>
                </a:lnH>
              </a:tblPr>
              <a:tblGrid>
                <a:gridCol w="2146696"/>
                <a:gridCol w="2843510"/>
                <a:gridCol w="2775793"/>
                <a:gridCol w="3282999"/>
              </a:tblGrid>
              <a:tr h="725805">
                <a:tc>
                  <a:txBody>
                    <a:bodyPr/>
                    <a:lstStyle/>
                    <a:p>
                      <a:pPr algn="ctr"/>
                      <a:r>
                        <a:rPr b="1" sz="1350" i="0" u="none">
                          <a:solidFill>
                            <a:srgbClr val="4ADE80"/>
                          </a:solidFill>
                          <a:latin typeface="Poppins"/>
                        </a:rPr>
                        <a:t>Kategori Kebugaran</a:t>
                      </a:r>
                    </a:p>
                  </a:txBody>
                  <a:tcPr anchor="ctr" marL="63500" marR="63500" marT="25400" marB="25400">
                    <a:lnL>
                      <a:noFill/>
                    </a:lnL>
                    <a:lnR>
                      <a:noFill/>
                    </a:lnR>
                    <a:lnT>
                      <a:noFill/>
                    </a:lnT>
                    <a:lnB>
                      <a:noFill/>
                    </a:lnB>
                    <a:solidFill>
                      <a:srgbClr val="1E293B"/>
                    </a:solidFill>
                  </a:tcPr>
                </a:tc>
                <a:tc>
                  <a:txBody>
                    <a:bodyPr/>
                    <a:lstStyle/>
                    <a:p>
                      <a:pPr algn="ctr"/>
                      <a:r>
                        <a:rPr b="1" sz="1350" i="0" u="none">
                          <a:solidFill>
                            <a:srgbClr val="4ADE80"/>
                          </a:solidFill>
                          <a:latin typeface="Poppins"/>
                        </a:rPr>
                        <a:t>Siswa Putera (Level / Shuttle)</a:t>
                      </a:r>
                    </a:p>
                  </a:txBody>
                  <a:tcPr anchor="ctr" marL="63500" marR="63500" marT="25400" marB="25400">
                    <a:lnL>
                      <a:noFill/>
                    </a:lnL>
                    <a:lnR>
                      <a:noFill/>
                    </a:lnR>
                    <a:lnT>
                      <a:noFill/>
                    </a:lnT>
                    <a:lnB>
                      <a:noFill/>
                    </a:lnB>
                    <a:solidFill>
                      <a:srgbClr val="1E293B"/>
                    </a:solidFill>
                  </a:tcPr>
                </a:tc>
                <a:tc>
                  <a:txBody>
                    <a:bodyPr/>
                    <a:lstStyle/>
                    <a:p>
                      <a:pPr algn="ctr"/>
                      <a:r>
                        <a:rPr b="1" sz="1350" i="0" u="none">
                          <a:solidFill>
                            <a:srgbClr val="4ADE80"/>
                          </a:solidFill>
                          <a:latin typeface="Poppins"/>
                        </a:rPr>
                        <a:t>Siswa Puteri (Level / Shuttle)</a:t>
                      </a:r>
                    </a:p>
                  </a:txBody>
                  <a:tcPr anchor="ctr" marL="63500" marR="63500" marT="25400" marB="25400">
                    <a:lnL>
                      <a:noFill/>
                    </a:lnL>
                    <a:lnR>
                      <a:noFill/>
                    </a:lnR>
                    <a:lnT>
                      <a:noFill/>
                    </a:lnT>
                    <a:lnB>
                      <a:noFill/>
                    </a:lnB>
                    <a:solidFill>
                      <a:srgbClr val="1E293B"/>
                    </a:solidFill>
                  </a:tcPr>
                </a:tc>
                <a:tc>
                  <a:txBody>
                    <a:bodyPr/>
                    <a:lstStyle/>
                    <a:p>
                      <a:pPr algn="ctr"/>
                      <a:r>
                        <a:rPr b="1" sz="1350" i="0" u="none">
                          <a:solidFill>
                            <a:srgbClr val="4ADE80"/>
                          </a:solidFill>
                          <a:latin typeface="Poppins"/>
                        </a:rPr>
                        <a:t>Keterangan Daya Tahan</a:t>
                      </a:r>
                    </a:p>
                  </a:txBody>
                  <a:tcPr anchor="ctr" marL="63500" marR="63500" marT="25400" marB="25400">
                    <a:lnL>
                      <a:noFill/>
                    </a:lnL>
                    <a:lnR>
                      <a:noFill/>
                    </a:lnR>
                    <a:lnT>
                      <a:noFill/>
                    </a:lnT>
                    <a:lnB>
                      <a:noFill/>
                    </a:lnB>
                    <a:solidFill>
                      <a:srgbClr val="1E293B"/>
                    </a:solidFill>
                  </a:tcPr>
                </a:tc>
              </a:tr>
              <a:tr h="725805">
                <a:tc>
                  <a:txBody>
                    <a:bodyPr/>
                    <a:lstStyle/>
                    <a:p>
                      <a:pPr algn="ctr"/>
                      <a:r>
                        <a:rPr b="0" sz="1350" i="0" u="none">
                          <a:solidFill>
                            <a:srgbClr val="F8FAFC"/>
                          </a:solidFill>
                          <a:latin typeface="Plus Jakarta Sans"/>
                        </a:rPr>
                        <a:t>Sangat Baik (Excellent)</a:t>
                      </a:r>
                    </a:p>
                  </a:txBody>
                  <a:tcPr anchor="ctr" marL="63500" marR="63500" marT="25400" marB="25400">
                    <a:lnL>
                      <a:noFill/>
                    </a:lnL>
                    <a:lnR>
                      <a:noFill/>
                    </a:lnR>
                    <a:lnT>
                      <a:noFill/>
                    </a:lnT>
                    <a:lnB>
                      <a:noFill/>
                    </a:lnB>
                    <a:noFill/>
                  </a:tcPr>
                </a:tc>
                <a:tc>
                  <a:txBody>
                    <a:bodyPr/>
                    <a:lstStyle/>
                    <a:p>
                      <a:pPr algn="ctr"/>
                      <a:r>
                        <a:rPr b="0" sz="1350" i="0" u="none">
                          <a:solidFill>
                            <a:srgbClr val="F8FAFC"/>
                          </a:solidFill>
                          <a:latin typeface="Plus Jakarta Sans"/>
                        </a:rPr>
                        <a:t>&gt; Level 9 / 9</a:t>
                      </a:r>
                    </a:p>
                  </a:txBody>
                  <a:tcPr anchor="ctr" marL="63500" marR="63500" marT="25400" marB="25400">
                    <a:lnL>
                      <a:noFill/>
                    </a:lnL>
                    <a:lnR>
                      <a:noFill/>
                    </a:lnR>
                    <a:lnT>
                      <a:noFill/>
                    </a:lnT>
                    <a:lnB>
                      <a:noFill/>
                    </a:lnB>
                    <a:noFill/>
                  </a:tcPr>
                </a:tc>
                <a:tc>
                  <a:txBody>
                    <a:bodyPr/>
                    <a:lstStyle/>
                    <a:p>
                      <a:pPr algn="ctr"/>
                      <a:r>
                        <a:rPr b="0" sz="1350" i="0" u="none">
                          <a:solidFill>
                            <a:srgbClr val="F8FAFC"/>
                          </a:solidFill>
                          <a:latin typeface="Plus Jakarta Sans"/>
                        </a:rPr>
                        <a:t>&gt; Level 7 / 6</a:t>
                      </a:r>
                    </a:p>
                  </a:txBody>
                  <a:tcPr anchor="ctr" marL="63500" marR="63500" marT="25400" marB="25400">
                    <a:lnL>
                      <a:noFill/>
                    </a:lnL>
                    <a:lnR>
                      <a:noFill/>
                    </a:lnR>
                    <a:lnT>
                      <a:noFill/>
                    </a:lnT>
                    <a:lnB>
                      <a:noFill/>
                    </a:lnB>
                    <a:noFill/>
                  </a:tcPr>
                </a:tc>
                <a:tc>
                  <a:txBody>
                    <a:bodyPr/>
                    <a:lstStyle/>
                    <a:p>
                      <a:pPr algn="ctr"/>
                      <a:r>
                        <a:rPr b="0" sz="1350" i="0" u="none">
                          <a:solidFill>
                            <a:srgbClr val="F8FAFC"/>
                          </a:solidFill>
                          <a:latin typeface="Plus Jakarta Sans"/>
                        </a:rPr>
                        <a:t>Stamina kardiorespirasi sangat prima</a:t>
                      </a:r>
                    </a:p>
                  </a:txBody>
                  <a:tcPr anchor="ctr" marL="63500" marR="63500" marT="25400" marB="25400">
                    <a:lnL>
                      <a:noFill/>
                    </a:lnL>
                    <a:lnR>
                      <a:noFill/>
                    </a:lnR>
                    <a:lnT>
                      <a:noFill/>
                    </a:lnT>
                    <a:lnB>
                      <a:noFill/>
                    </a:lnB>
                    <a:noFill/>
                  </a:tcPr>
                </a:tc>
              </a:tr>
              <a:tr h="725805">
                <a:tc>
                  <a:txBody>
                    <a:bodyPr/>
                    <a:lstStyle/>
                    <a:p>
                      <a:pPr algn="ctr"/>
                      <a:r>
                        <a:rPr b="0" sz="1350" i="0" u="none">
                          <a:solidFill>
                            <a:srgbClr val="F8FAFC"/>
                          </a:solidFill>
                          <a:latin typeface="Plus Jakarta Sans"/>
                        </a:rPr>
                        <a:t>Baik (Good)</a:t>
                      </a:r>
                    </a:p>
                  </a:txBody>
                  <a:tcPr anchor="ctr" marL="63500" marR="63500" marT="25400" marB="25400">
                    <a:lnL>
                      <a:noFill/>
                    </a:lnL>
                    <a:lnR>
                      <a:noFill/>
                    </a:lnR>
                    <a:lnT>
                      <a:noFill/>
                    </a:lnT>
                    <a:lnB>
                      <a:noFill/>
                    </a:lnB>
                    <a:solidFill>
                      <a:srgbClr val="1E293B"/>
                    </a:solidFill>
                  </a:tcPr>
                </a:tc>
                <a:tc>
                  <a:txBody>
                    <a:bodyPr/>
                    <a:lstStyle/>
                    <a:p>
                      <a:pPr algn="ctr"/>
                      <a:r>
                        <a:rPr b="0" sz="1350" i="0" u="none">
                          <a:solidFill>
                            <a:srgbClr val="F8FAFC"/>
                          </a:solidFill>
                          <a:latin typeface="Plus Jakarta Sans"/>
                        </a:rPr>
                        <a:t>Level 7/5 - 8/9</a:t>
                      </a:r>
                    </a:p>
                  </a:txBody>
                  <a:tcPr anchor="ctr" marL="63500" marR="63500" marT="25400" marB="25400">
                    <a:lnL>
                      <a:noFill/>
                    </a:lnL>
                    <a:lnR>
                      <a:noFill/>
                    </a:lnR>
                    <a:lnT>
                      <a:noFill/>
                    </a:lnT>
                    <a:lnB>
                      <a:noFill/>
                    </a:lnB>
                    <a:solidFill>
                      <a:srgbClr val="1E293B"/>
                    </a:solidFill>
                  </a:tcPr>
                </a:tc>
                <a:tc>
                  <a:txBody>
                    <a:bodyPr/>
                    <a:lstStyle/>
                    <a:p>
                      <a:pPr algn="ctr"/>
                      <a:r>
                        <a:rPr b="0" sz="1350" i="0" u="none">
                          <a:solidFill>
                            <a:srgbClr val="F8FAFC"/>
                          </a:solidFill>
                          <a:latin typeface="Plus Jakarta Sans"/>
                        </a:rPr>
                        <a:t>Level 6/2 - 7/5</a:t>
                      </a:r>
                    </a:p>
                  </a:txBody>
                  <a:tcPr anchor="ctr" marL="63500" marR="63500" marT="25400" marB="25400">
                    <a:lnL>
                      <a:noFill/>
                    </a:lnL>
                    <a:lnR>
                      <a:noFill/>
                    </a:lnR>
                    <a:lnT>
                      <a:noFill/>
                    </a:lnT>
                    <a:lnB>
                      <a:noFill/>
                    </a:lnB>
                    <a:solidFill>
                      <a:srgbClr val="1E293B"/>
                    </a:solidFill>
                  </a:tcPr>
                </a:tc>
                <a:tc>
                  <a:txBody>
                    <a:bodyPr/>
                    <a:lstStyle/>
                    <a:p>
                      <a:pPr algn="ctr"/>
                      <a:r>
                        <a:rPr b="0" sz="1350" i="0" u="none">
                          <a:solidFill>
                            <a:srgbClr val="F8FAFC"/>
                          </a:solidFill>
                          <a:latin typeface="Plus Jakarta Sans"/>
                        </a:rPr>
                        <a:t>Kondisi fisik di atas rata-rata</a:t>
                      </a:r>
                    </a:p>
                  </a:txBody>
                  <a:tcPr anchor="ctr" marL="63500" marR="63500" marT="25400" marB="25400">
                    <a:lnL>
                      <a:noFill/>
                    </a:lnL>
                    <a:lnR>
                      <a:noFill/>
                    </a:lnR>
                    <a:lnT>
                      <a:noFill/>
                    </a:lnT>
                    <a:lnB>
                      <a:noFill/>
                    </a:lnB>
                    <a:solidFill>
                      <a:srgbClr val="1E293B"/>
                    </a:solidFill>
                  </a:tcPr>
                </a:tc>
              </a:tr>
              <a:tr h="725805">
                <a:tc>
                  <a:txBody>
                    <a:bodyPr/>
                    <a:lstStyle/>
                    <a:p>
                      <a:pPr algn="ctr"/>
                      <a:r>
                        <a:rPr b="0" sz="1350" i="0" u="none">
                          <a:solidFill>
                            <a:srgbClr val="F8FAFC"/>
                          </a:solidFill>
                          <a:latin typeface="Plus Jakarta Sans"/>
                        </a:rPr>
                        <a:t>Cukup (Average)</a:t>
                      </a:r>
                    </a:p>
                  </a:txBody>
                  <a:tcPr anchor="ctr" marL="63500" marR="63500" marT="25400" marB="25400">
                    <a:lnL>
                      <a:noFill/>
                    </a:lnL>
                    <a:lnR>
                      <a:noFill/>
                    </a:lnR>
                    <a:lnT>
                      <a:noFill/>
                    </a:lnT>
                    <a:lnB>
                      <a:noFill/>
                    </a:lnB>
                    <a:noFill/>
                  </a:tcPr>
                </a:tc>
                <a:tc>
                  <a:txBody>
                    <a:bodyPr/>
                    <a:lstStyle/>
                    <a:p>
                      <a:pPr algn="ctr"/>
                      <a:r>
                        <a:rPr b="0" sz="1350" i="0" u="none">
                          <a:solidFill>
                            <a:srgbClr val="F8FAFC"/>
                          </a:solidFill>
                          <a:latin typeface="Plus Jakarta Sans"/>
                        </a:rPr>
                        <a:t>Level 5/2 - 7/4</a:t>
                      </a:r>
                    </a:p>
                  </a:txBody>
                  <a:tcPr anchor="ctr" marL="63500" marR="63500" marT="25400" marB="25400">
                    <a:lnL>
                      <a:noFill/>
                    </a:lnL>
                    <a:lnR>
                      <a:noFill/>
                    </a:lnR>
                    <a:lnT>
                      <a:noFill/>
                    </a:lnT>
                    <a:lnB>
                      <a:noFill/>
                    </a:lnB>
                    <a:noFill/>
                  </a:tcPr>
                </a:tc>
                <a:tc>
                  <a:txBody>
                    <a:bodyPr/>
                    <a:lstStyle/>
                    <a:p>
                      <a:pPr algn="ctr"/>
                      <a:r>
                        <a:rPr b="0" sz="1350" i="0" u="none">
                          <a:solidFill>
                            <a:srgbClr val="F8FAFC"/>
                          </a:solidFill>
                          <a:latin typeface="Plus Jakarta Sans"/>
                        </a:rPr>
                        <a:t>Level 4/7 - 6/1</a:t>
                      </a:r>
                    </a:p>
                  </a:txBody>
                  <a:tcPr anchor="ctr" marL="63500" marR="63500" marT="25400" marB="25400">
                    <a:lnL>
                      <a:noFill/>
                    </a:lnL>
                    <a:lnR>
                      <a:noFill/>
                    </a:lnR>
                    <a:lnT>
                      <a:noFill/>
                    </a:lnT>
                    <a:lnB>
                      <a:noFill/>
                    </a:lnB>
                    <a:noFill/>
                  </a:tcPr>
                </a:tc>
                <a:tc>
                  <a:txBody>
                    <a:bodyPr/>
                    <a:lstStyle/>
                    <a:p>
                      <a:pPr algn="ctr"/>
                      <a:r>
                        <a:rPr b="0" sz="1350" i="0" u="none">
                          <a:solidFill>
                            <a:srgbClr val="F8FAFC"/>
                          </a:solidFill>
                          <a:latin typeface="Plus Jakarta Sans"/>
                        </a:rPr>
                        <a:t>Kondisi fisik standar remaja</a:t>
                      </a:r>
                    </a:p>
                  </a:txBody>
                  <a:tcPr anchor="ctr" marL="63500" marR="63500" marT="25400" marB="25400">
                    <a:lnL>
                      <a:noFill/>
                    </a:lnL>
                    <a:lnR>
                      <a:noFill/>
                    </a:lnR>
                    <a:lnT>
                      <a:noFill/>
                    </a:lnT>
                    <a:lnB>
                      <a:noFill/>
                    </a:lnB>
                    <a:noFill/>
                  </a:tcPr>
                </a:tc>
              </a:tr>
              <a:tr h="725805">
                <a:tc>
                  <a:txBody>
                    <a:bodyPr/>
                    <a:lstStyle/>
                    <a:p>
                      <a:pPr algn="ctr"/>
                      <a:r>
                        <a:rPr b="0" sz="1350" i="0" u="none">
                          <a:solidFill>
                            <a:srgbClr val="F8FAFC"/>
                          </a:solidFill>
                          <a:latin typeface="Plus Jakarta Sans"/>
                        </a:rPr>
                        <a:t>Kurang (Poor)</a:t>
                      </a:r>
                    </a:p>
                  </a:txBody>
                  <a:tcPr anchor="ctr" marL="63500" marR="63500" marT="25400" marB="25400">
                    <a:lnL>
                      <a:noFill/>
                    </a:lnL>
                    <a:lnR>
                      <a:noFill/>
                    </a:lnR>
                    <a:lnT>
                      <a:noFill/>
                    </a:lnT>
                    <a:lnB>
                      <a:noFill/>
                    </a:lnB>
                    <a:solidFill>
                      <a:srgbClr val="1E293B"/>
                    </a:solidFill>
                  </a:tcPr>
                </a:tc>
                <a:tc>
                  <a:txBody>
                    <a:bodyPr/>
                    <a:lstStyle/>
                    <a:p>
                      <a:pPr algn="ctr"/>
                      <a:r>
                        <a:rPr b="0" sz="1350" i="0" u="none">
                          <a:solidFill>
                            <a:srgbClr val="F8FAFC"/>
                          </a:solidFill>
                          <a:latin typeface="Plus Jakarta Sans"/>
                        </a:rPr>
                        <a:t>&lt; Level 5/2</a:t>
                      </a:r>
                    </a:p>
                  </a:txBody>
                  <a:tcPr anchor="ctr" marL="63500" marR="63500" marT="25400" marB="25400">
                    <a:lnL>
                      <a:noFill/>
                    </a:lnL>
                    <a:lnR>
                      <a:noFill/>
                    </a:lnR>
                    <a:lnT>
                      <a:noFill/>
                    </a:lnT>
                    <a:lnB>
                      <a:noFill/>
                    </a:lnB>
                    <a:solidFill>
                      <a:srgbClr val="1E293B"/>
                    </a:solidFill>
                  </a:tcPr>
                </a:tc>
                <a:tc>
                  <a:txBody>
                    <a:bodyPr/>
                    <a:lstStyle/>
                    <a:p>
                      <a:pPr algn="ctr"/>
                      <a:r>
                        <a:rPr b="0" sz="1350" i="0" u="none">
                          <a:solidFill>
                            <a:srgbClr val="F8FAFC"/>
                          </a:solidFill>
                          <a:latin typeface="Plus Jakarta Sans"/>
                        </a:rPr>
                        <a:t>&lt; Level 4/7</a:t>
                      </a:r>
                    </a:p>
                  </a:txBody>
                  <a:tcPr anchor="ctr" marL="63500" marR="63500" marT="25400" marB="25400">
                    <a:lnL>
                      <a:noFill/>
                    </a:lnL>
                    <a:lnR>
                      <a:noFill/>
                    </a:lnR>
                    <a:lnT>
                      <a:noFill/>
                    </a:lnT>
                    <a:lnB>
                      <a:noFill/>
                    </a:lnB>
                    <a:solidFill>
                      <a:srgbClr val="1E293B"/>
                    </a:solidFill>
                  </a:tcPr>
                </a:tc>
                <a:tc>
                  <a:txBody>
                    <a:bodyPr/>
                    <a:lstStyle/>
                    <a:p>
                      <a:pPr algn="ctr"/>
                      <a:r>
                        <a:rPr b="0" sz="1350" i="0" u="none">
                          <a:solidFill>
                            <a:srgbClr val="F8FAFC"/>
                          </a:solidFill>
                          <a:latin typeface="Plus Jakarta Sans"/>
                        </a:rPr>
                        <a:t>Memerlukan peningkatan latihan kardio</a:t>
                      </a:r>
                    </a:p>
                  </a:txBody>
                  <a:tcPr anchor="ctr" marL="63500" marR="63500" marT="25400" marB="25400">
                    <a:lnL>
                      <a:noFill/>
                    </a:lnL>
                    <a:lnR>
                      <a:noFill/>
                    </a:lnR>
                    <a:lnT>
                      <a:noFill/>
                    </a:lnT>
                    <a:lnB>
                      <a:noFill/>
                    </a:lnB>
                    <a:solidFill>
                      <a:srgbClr val="1E293B"/>
                    </a:solidFill>
                  </a:tcPr>
                </a:tc>
              </a:tr>
            </a:tbl>
          </a:graphicData>
        </a:graphic>
      </p:graphicFrame>
      <p:sp>
        <p:nvSpPr>
          <p:cNvPr id="4" name="Rectangle 3"/>
          <p:cNvSpPr/>
          <p:nvPr/>
        </p:nvSpPr>
        <p:spPr>
          <a:xfrm>
            <a:off x="571500" y="2843212"/>
            <a:ext cx="2146696"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18196" y="2843212"/>
            <a:ext cx="2843510"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561707" y="2843212"/>
            <a:ext cx="2775793"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337500" y="2843212"/>
            <a:ext cx="3282999"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71500" y="3671887"/>
            <a:ext cx="2146696"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18196" y="3671887"/>
            <a:ext cx="2843510"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61707" y="3671887"/>
            <a:ext cx="2775793"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337500" y="3671887"/>
            <a:ext cx="3282999"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71500" y="4243387"/>
            <a:ext cx="2146696"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18196" y="4243387"/>
            <a:ext cx="2843510"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61707" y="4243387"/>
            <a:ext cx="2775793"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37500" y="4243387"/>
            <a:ext cx="3282999"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71500" y="4814887"/>
            <a:ext cx="2146696"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18196" y="4814887"/>
            <a:ext cx="2843510"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561707" y="4814887"/>
            <a:ext cx="2775793"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337500" y="4814887"/>
            <a:ext cx="3282999"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71500" y="5643562"/>
            <a:ext cx="2146696"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718196" y="5643562"/>
            <a:ext cx="2843510"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561707" y="5643562"/>
            <a:ext cx="2775793"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337500" y="5643562"/>
            <a:ext cx="3282999"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71500" y="476250"/>
            <a:ext cx="11601450" cy="542925"/>
          </a:xfrm>
          <a:prstGeom prst="rect">
            <a:avLst/>
          </a:prstGeom>
          <a:noFill/>
        </p:spPr>
        <p:txBody>
          <a:bodyPr wrap="square" lIns="0" rIns="0" tIns="0" bIns="0" anchor="t">
            <a:spAutoFit/>
          </a:bodyPr>
          <a:lstStyle/>
          <a:p>
            <a:pPr algn="l"/>
            <a:r>
              <a:rPr b="1" sz="2850" i="0" u="none">
                <a:solidFill>
                  <a:srgbClr val="F8FAFC"/>
                </a:solidFill>
                <a:latin typeface="Poppins"/>
              </a:rPr>
              <a:t>Norma Hasil Beep Test Usia 14-15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1304925"/>
            <a:ext cx="11049000" cy="5076825"/>
          </a:xfrm>
          <a:prstGeom prst="rect">
            <a:avLst/>
          </a:prstGeom>
        </p:spPr>
      </p:pic>
      <p:sp>
        <p:nvSpPr>
          <p:cNvPr id="4" name="TextBox 3"/>
          <p:cNvSpPr txBox="1"/>
          <p:nvPr/>
        </p:nvSpPr>
        <p:spPr>
          <a:xfrm>
            <a:off x="781050" y="4833937"/>
            <a:ext cx="10629900" cy="257175"/>
          </a:xfrm>
          <a:prstGeom prst="rect">
            <a:avLst/>
          </a:prstGeom>
          <a:noFill/>
        </p:spPr>
        <p:txBody>
          <a:bodyPr wrap="square" lIns="0" rIns="0" tIns="0" bIns="0" anchor="t">
            <a:spAutoFit/>
          </a:bodyPr>
          <a:lstStyle/>
          <a:p>
            <a:pPr algn="ctr">
              <a:lnSpc>
                <a:spcPts val="2025"/>
              </a:lnSpc>
            </a:pPr>
            <a:r>
              <a:rPr b="0" sz="1350" i="1" u="none">
                <a:solidFill>
                  <a:srgbClr val="CBD5E1"/>
                </a:solidFill>
                <a:latin typeface="Plus Jakarta Sans"/>
              </a:rPr>
              <a:t>Semakin tinggi level yang dicapai pada Beep Test, semakin besar estimasi kapasitas VO2 Max (Volume Oksigen Maksimal) tubuh siswa.</a:t>
            </a:r>
          </a:p>
        </p:txBody>
      </p:sp>
      <p:sp>
        <p:nvSpPr>
          <p:cNvPr id="5" name="TextBox 4"/>
          <p:cNvSpPr txBox="1"/>
          <p:nvPr/>
        </p:nvSpPr>
        <p:spPr>
          <a:xfrm>
            <a:off x="571500" y="476250"/>
            <a:ext cx="11601450" cy="542925"/>
          </a:xfrm>
          <a:prstGeom prst="rect">
            <a:avLst/>
          </a:prstGeom>
          <a:noFill/>
        </p:spPr>
        <p:txBody>
          <a:bodyPr wrap="square" lIns="0" rIns="0" tIns="0" bIns="0" anchor="t">
            <a:spAutoFit/>
          </a:bodyPr>
          <a:lstStyle/>
          <a:p>
            <a:pPr algn="l"/>
            <a:r>
              <a:rPr b="1" sz="2850" i="0" u="none">
                <a:solidFill>
                  <a:srgbClr val="F8FAFC"/>
                </a:solidFill>
                <a:latin typeface="Poppins"/>
              </a:rPr>
              <a:t>Prediksi VO2 Max per Level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71500" y="476250"/>
            <a:ext cx="5600700" cy="542925"/>
          </a:xfrm>
          <a:prstGeom prst="rect">
            <a:avLst/>
          </a:prstGeom>
          <a:noFill/>
        </p:spPr>
        <p:txBody>
          <a:bodyPr wrap="square" lIns="0" rIns="0" tIns="0" bIns="0" anchor="t">
            <a:spAutoFit/>
          </a:bodyPr>
          <a:lstStyle/>
          <a:p>
            <a:pPr algn="l"/>
            <a:r>
              <a:rPr b="1" sz="2850" i="0" u="none">
                <a:solidFill>
                  <a:srgbClr val="F8FAFC"/>
                </a:solidFill>
                <a:latin typeface="Poppins"/>
              </a:rPr>
              <a:t>Kesalahan Umum</a:t>
            </a:r>
          </a:p>
        </p:txBody>
      </p:sp>
      <p:pic>
        <p:nvPicPr>
          <p:cNvPr id="4" name="Picture 3" descr="image.png"/>
          <p:cNvPicPr>
            <a:picLocks noChangeAspect="1"/>
          </p:cNvPicPr>
          <p:nvPr/>
        </p:nvPicPr>
        <p:blipFill>
          <a:blip r:embed="rId3"/>
          <a:stretch>
            <a:fillRect/>
          </a:stretch>
        </p:blipFill>
        <p:spPr>
          <a:xfrm>
            <a:off x="6286500" y="0"/>
            <a:ext cx="5905500" cy="6858000"/>
          </a:xfrm>
          <a:prstGeom prst="rect">
            <a:avLst/>
          </a:prstGeom>
        </p:spPr>
      </p:pic>
      <p:sp>
        <p:nvSpPr>
          <p:cNvPr id="5" name="TextBox 4"/>
          <p:cNvSpPr txBox="1"/>
          <p:nvPr/>
        </p:nvSpPr>
        <p:spPr>
          <a:xfrm>
            <a:off x="723900" y="1304925"/>
            <a:ext cx="5280660" cy="371475"/>
          </a:xfrm>
          <a:prstGeom prst="rect">
            <a:avLst/>
          </a:prstGeom>
          <a:noFill/>
        </p:spPr>
        <p:txBody>
          <a:bodyPr wrap="square" lIns="0" rIns="0" tIns="0" bIns="0" anchor="t">
            <a:spAutoFit/>
          </a:bodyPr>
          <a:lstStyle/>
          <a:p>
            <a:pPr algn="l"/>
            <a:r>
              <a:rPr b="1" sz="1950" i="0" u="none">
                <a:solidFill>
                  <a:srgbClr val="F8FAFC"/>
                </a:solidFill>
                <a:latin typeface="Poppins"/>
              </a:rPr>
              <a:t>Hal yang Harus Dihindari:</a:t>
            </a:r>
          </a:p>
        </p:txBody>
      </p:sp>
      <p:sp>
        <p:nvSpPr>
          <p:cNvPr id="6" name="TextBox 5"/>
          <p:cNvSpPr txBox="1"/>
          <p:nvPr/>
        </p:nvSpPr>
        <p:spPr>
          <a:xfrm>
            <a:off x="723900" y="1790700"/>
            <a:ext cx="5029200" cy="274290"/>
          </a:xfrm>
          <a:prstGeom prst="rect">
            <a:avLst/>
          </a:prstGeom>
          <a:noFill/>
        </p:spPr>
        <p:txBody>
          <a:bodyPr wrap="square" lIns="0" rIns="0" tIns="0" bIns="0" anchor="t">
            <a:spAutoFit/>
          </a:bodyPr>
          <a:lstStyle/>
          <a:p>
            <a:pPr algn="l">
              <a:lnSpc>
                <a:spcPts val="2160"/>
              </a:lnSpc>
            </a:pPr>
            <a:r>
              <a:rPr b="0" sz="1350" i="0" u="none">
                <a:solidFill>
                  <a:srgbClr val="CBD5E1"/>
                </a:solidFill>
                <a:latin typeface="Plus Jakarta Sans"/>
              </a:rPr>
              <a:t>1. Berlari terlalu cepat di level awal sehingga kehabisan energi.</a:t>
            </a:r>
          </a:p>
        </p:txBody>
      </p:sp>
      <p:sp>
        <p:nvSpPr>
          <p:cNvPr id="7" name="TextBox 6"/>
          <p:cNvSpPr txBox="1"/>
          <p:nvPr/>
        </p:nvSpPr>
        <p:spPr>
          <a:xfrm>
            <a:off x="723900" y="2179290"/>
            <a:ext cx="5029200" cy="274290"/>
          </a:xfrm>
          <a:prstGeom prst="rect">
            <a:avLst/>
          </a:prstGeom>
          <a:noFill/>
        </p:spPr>
        <p:txBody>
          <a:bodyPr wrap="square" lIns="0" rIns="0" tIns="0" bIns="0" anchor="t">
            <a:spAutoFit/>
          </a:bodyPr>
          <a:lstStyle/>
          <a:p>
            <a:pPr algn="l">
              <a:lnSpc>
                <a:spcPts val="2160"/>
              </a:lnSpc>
            </a:pPr>
            <a:r>
              <a:rPr b="0" sz="1350" i="0" u="none">
                <a:solidFill>
                  <a:srgbClr val="CBD5E1"/>
                </a:solidFill>
                <a:latin typeface="Plus Jakarta Sans"/>
              </a:rPr>
              <a:t>2. Tidak memutar badan di garis pembalik dengan benar.</a:t>
            </a:r>
          </a:p>
        </p:txBody>
      </p:sp>
      <p:sp>
        <p:nvSpPr>
          <p:cNvPr id="8" name="TextBox 7"/>
          <p:cNvSpPr txBox="1"/>
          <p:nvPr/>
        </p:nvSpPr>
        <p:spPr>
          <a:xfrm>
            <a:off x="723900" y="2567880"/>
            <a:ext cx="5029200" cy="274290"/>
          </a:xfrm>
          <a:prstGeom prst="rect">
            <a:avLst/>
          </a:prstGeom>
          <a:noFill/>
        </p:spPr>
        <p:txBody>
          <a:bodyPr wrap="square" lIns="0" rIns="0" tIns="0" bIns="0" anchor="t">
            <a:spAutoFit/>
          </a:bodyPr>
          <a:lstStyle/>
          <a:p>
            <a:pPr algn="l">
              <a:lnSpc>
                <a:spcPts val="2160"/>
              </a:lnSpc>
            </a:pPr>
            <a:r>
              <a:rPr b="0" sz="1350" i="0" u="none">
                <a:solidFill>
                  <a:srgbClr val="CBD5E1"/>
                </a:solidFill>
                <a:latin typeface="Plus Jakarta Sans"/>
              </a:rPr>
              <a:t>3. Melewatkan pemanasan yang memicu kram dan cedera otot.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528887"/>
            <a:ext cx="3530649" cy="2628900"/>
          </a:xfrm>
          <a:prstGeom prst="rect">
            <a:avLst/>
          </a:prstGeom>
        </p:spPr>
      </p:pic>
      <p:pic>
        <p:nvPicPr>
          <p:cNvPr id="4" name="Picture 3" descr="image.png"/>
          <p:cNvPicPr>
            <a:picLocks noChangeAspect="1"/>
          </p:cNvPicPr>
          <p:nvPr/>
        </p:nvPicPr>
        <p:blipFill>
          <a:blip r:embed="rId4"/>
          <a:stretch>
            <a:fillRect/>
          </a:stretch>
        </p:blipFill>
        <p:spPr>
          <a:xfrm>
            <a:off x="4330749" y="2528887"/>
            <a:ext cx="3530649" cy="2628900"/>
          </a:xfrm>
          <a:prstGeom prst="rect">
            <a:avLst/>
          </a:prstGeom>
        </p:spPr>
      </p:pic>
      <p:pic>
        <p:nvPicPr>
          <p:cNvPr id="5" name="Picture 4" descr="image.png"/>
          <p:cNvPicPr>
            <a:picLocks noChangeAspect="1"/>
          </p:cNvPicPr>
          <p:nvPr/>
        </p:nvPicPr>
        <p:blipFill>
          <a:blip r:embed="rId5"/>
          <a:stretch>
            <a:fillRect/>
          </a:stretch>
        </p:blipFill>
        <p:spPr>
          <a:xfrm>
            <a:off x="8089999" y="2528887"/>
            <a:ext cx="3530649" cy="2628900"/>
          </a:xfrm>
          <a:prstGeom prst="rect">
            <a:avLst/>
          </a:prstGeom>
        </p:spPr>
      </p:pic>
      <p:pic>
        <p:nvPicPr>
          <p:cNvPr id="6" name="Picture 5" descr="image.png"/>
          <p:cNvPicPr>
            <a:picLocks noChangeAspect="1"/>
          </p:cNvPicPr>
          <p:nvPr/>
        </p:nvPicPr>
        <p:blipFill>
          <a:blip r:embed="rId6"/>
          <a:stretch>
            <a:fillRect/>
          </a:stretch>
        </p:blipFill>
        <p:spPr>
          <a:xfrm>
            <a:off x="847725" y="2805112"/>
            <a:ext cx="514350" cy="514350"/>
          </a:xfrm>
          <a:prstGeom prst="rect">
            <a:avLst/>
          </a:prstGeom>
        </p:spPr>
      </p:pic>
      <p:sp>
        <p:nvSpPr>
          <p:cNvPr id="7" name="TextBox 6"/>
          <p:cNvSpPr txBox="1"/>
          <p:nvPr/>
        </p:nvSpPr>
        <p:spPr>
          <a:xfrm>
            <a:off x="847725" y="3509962"/>
            <a:ext cx="3127109" cy="371475"/>
          </a:xfrm>
          <a:prstGeom prst="rect">
            <a:avLst/>
          </a:prstGeom>
          <a:noFill/>
        </p:spPr>
        <p:txBody>
          <a:bodyPr wrap="square" lIns="0" rIns="0" tIns="0" bIns="0" anchor="t">
            <a:spAutoFit/>
          </a:bodyPr>
          <a:lstStyle/>
          <a:p>
            <a:pPr algn="l"/>
            <a:r>
              <a:rPr b="1" sz="1950" i="0" u="none">
                <a:solidFill>
                  <a:srgbClr val="F8FAFC"/>
                </a:solidFill>
                <a:latin typeface="Poppins"/>
              </a:rPr>
              <a:t>Pemanasan Cukup</a:t>
            </a:r>
          </a:p>
        </p:txBody>
      </p:sp>
      <p:sp>
        <p:nvSpPr>
          <p:cNvPr id="8" name="TextBox 7"/>
          <p:cNvSpPr txBox="1"/>
          <p:nvPr/>
        </p:nvSpPr>
        <p:spPr>
          <a:xfrm>
            <a:off x="847725" y="3995737"/>
            <a:ext cx="2978199" cy="771525"/>
          </a:xfrm>
          <a:prstGeom prst="rect">
            <a:avLst/>
          </a:prstGeom>
          <a:noFill/>
        </p:spPr>
        <p:txBody>
          <a:bodyPr wrap="square" lIns="0" rIns="0" tIns="0" bIns="0" anchor="t">
            <a:spAutoFit/>
          </a:bodyPr>
          <a:lstStyle/>
          <a:p>
            <a:pPr algn="l">
              <a:lnSpc>
                <a:spcPts val="2025"/>
              </a:lnSpc>
            </a:pPr>
            <a:r>
              <a:rPr b="0" sz="1350" i="0" u="none">
                <a:solidFill>
                  <a:srgbClr val="CBD5E1"/>
                </a:solidFill>
                <a:latin typeface="Plus Jakarta Sans"/>
              </a:rPr>
              <a:t>Lakukan pemanasan dinamis 10-15 menit untuk menaikkan suhu tubuh dan menyiapkan denyut jantung.</a:t>
            </a:r>
          </a:p>
        </p:txBody>
      </p:sp>
      <p:pic>
        <p:nvPicPr>
          <p:cNvPr id="9" name="Picture 8" descr="image.png"/>
          <p:cNvPicPr>
            <a:picLocks noChangeAspect="1"/>
          </p:cNvPicPr>
          <p:nvPr/>
        </p:nvPicPr>
        <p:blipFill>
          <a:blip r:embed="rId7"/>
          <a:stretch>
            <a:fillRect/>
          </a:stretch>
        </p:blipFill>
        <p:spPr>
          <a:xfrm>
            <a:off x="4606974" y="2805112"/>
            <a:ext cx="514350" cy="514350"/>
          </a:xfrm>
          <a:prstGeom prst="rect">
            <a:avLst/>
          </a:prstGeom>
        </p:spPr>
      </p:pic>
      <p:sp>
        <p:nvSpPr>
          <p:cNvPr id="10" name="TextBox 9"/>
          <p:cNvSpPr txBox="1"/>
          <p:nvPr/>
        </p:nvSpPr>
        <p:spPr>
          <a:xfrm>
            <a:off x="4606974" y="3509962"/>
            <a:ext cx="3127109" cy="371475"/>
          </a:xfrm>
          <a:prstGeom prst="rect">
            <a:avLst/>
          </a:prstGeom>
          <a:noFill/>
        </p:spPr>
        <p:txBody>
          <a:bodyPr wrap="square" lIns="0" rIns="0" tIns="0" bIns="0" anchor="t">
            <a:spAutoFit/>
          </a:bodyPr>
          <a:lstStyle/>
          <a:p>
            <a:pPr algn="l"/>
            <a:r>
              <a:rPr b="1" sz="1950" i="0" u="none">
                <a:solidFill>
                  <a:srgbClr val="F8FAFC"/>
                </a:solidFill>
                <a:latin typeface="Poppins"/>
              </a:rPr>
              <a:t>Atur Pace &amp; Napas</a:t>
            </a:r>
          </a:p>
        </p:txBody>
      </p:sp>
      <p:sp>
        <p:nvSpPr>
          <p:cNvPr id="11" name="TextBox 10"/>
          <p:cNvSpPr txBox="1"/>
          <p:nvPr/>
        </p:nvSpPr>
        <p:spPr>
          <a:xfrm>
            <a:off x="4606974" y="3995737"/>
            <a:ext cx="2978199" cy="771525"/>
          </a:xfrm>
          <a:prstGeom prst="rect">
            <a:avLst/>
          </a:prstGeom>
          <a:noFill/>
        </p:spPr>
        <p:txBody>
          <a:bodyPr wrap="square" lIns="0" rIns="0" tIns="0" bIns="0" anchor="t">
            <a:spAutoFit/>
          </a:bodyPr>
          <a:lstStyle/>
          <a:p>
            <a:pPr algn="l">
              <a:lnSpc>
                <a:spcPts val="2025"/>
              </a:lnSpc>
            </a:pPr>
            <a:r>
              <a:rPr b="0" sz="1350" i="0" u="none">
                <a:solidFill>
                  <a:srgbClr val="CBD5E1"/>
                </a:solidFill>
                <a:latin typeface="Plus Jakarta Sans"/>
              </a:rPr>
              <a:t>Jaga ritme konsisten di level awal. Hirup napas dari hidung dan hembuskan teratur melalui mulut.</a:t>
            </a:r>
          </a:p>
        </p:txBody>
      </p:sp>
      <p:pic>
        <p:nvPicPr>
          <p:cNvPr id="12" name="Picture 11" descr="image.png"/>
          <p:cNvPicPr>
            <a:picLocks noChangeAspect="1"/>
          </p:cNvPicPr>
          <p:nvPr/>
        </p:nvPicPr>
        <p:blipFill>
          <a:blip r:embed="rId8"/>
          <a:stretch>
            <a:fillRect/>
          </a:stretch>
        </p:blipFill>
        <p:spPr>
          <a:xfrm>
            <a:off x="8366224" y="2805112"/>
            <a:ext cx="514350" cy="514350"/>
          </a:xfrm>
          <a:prstGeom prst="rect">
            <a:avLst/>
          </a:prstGeom>
        </p:spPr>
      </p:pic>
      <p:sp>
        <p:nvSpPr>
          <p:cNvPr id="13" name="TextBox 12"/>
          <p:cNvSpPr txBox="1"/>
          <p:nvPr/>
        </p:nvSpPr>
        <p:spPr>
          <a:xfrm>
            <a:off x="8366224" y="3509962"/>
            <a:ext cx="3127109" cy="371475"/>
          </a:xfrm>
          <a:prstGeom prst="rect">
            <a:avLst/>
          </a:prstGeom>
          <a:noFill/>
        </p:spPr>
        <p:txBody>
          <a:bodyPr wrap="square" lIns="0" rIns="0" tIns="0" bIns="0" anchor="t">
            <a:spAutoFit/>
          </a:bodyPr>
          <a:lstStyle/>
          <a:p>
            <a:pPr algn="l"/>
            <a:r>
              <a:rPr b="1" sz="1950" i="0" u="none">
                <a:solidFill>
                  <a:srgbClr val="F8FAFC"/>
                </a:solidFill>
                <a:latin typeface="Poppins"/>
              </a:rPr>
              <a:t>Hidrasi &amp; Pemulihan</a:t>
            </a:r>
          </a:p>
        </p:txBody>
      </p:sp>
      <p:sp>
        <p:nvSpPr>
          <p:cNvPr id="14" name="TextBox 13"/>
          <p:cNvSpPr txBox="1"/>
          <p:nvPr/>
        </p:nvSpPr>
        <p:spPr>
          <a:xfrm>
            <a:off x="8366224" y="3995737"/>
            <a:ext cx="2978199" cy="771525"/>
          </a:xfrm>
          <a:prstGeom prst="rect">
            <a:avLst/>
          </a:prstGeom>
          <a:noFill/>
        </p:spPr>
        <p:txBody>
          <a:bodyPr wrap="square" lIns="0" rIns="0" tIns="0" bIns="0" anchor="t">
            <a:spAutoFit/>
          </a:bodyPr>
          <a:lstStyle/>
          <a:p>
            <a:pPr algn="l">
              <a:lnSpc>
                <a:spcPts val="2025"/>
              </a:lnSpc>
            </a:pPr>
            <a:r>
              <a:rPr b="0" sz="1350" i="0" u="none">
                <a:solidFill>
                  <a:srgbClr val="CBD5E1"/>
                </a:solidFill>
                <a:latin typeface="Plus Jakarta Sans"/>
              </a:rPr>
              <a:t>Minum air secukupnya sebelum tes dan lakukan </a:t>
            </a:r>
            <a:r>
              <a:rPr b="0" sz="1350" i="1" u="none">
                <a:solidFill>
                  <a:srgbClr val="CBD5E1"/>
                </a:solidFill>
                <a:latin typeface="Plus Jakarta Sans"/>
              </a:rPr>
              <a:t>cooling down</a:t>
            </a:r>
            <a:r>
              <a:rPr b="0" sz="1350" i="0" u="none">
                <a:solidFill>
                  <a:srgbClr val="CBD5E1"/>
                </a:solidFill>
                <a:latin typeface="Plus Jakarta Sans"/>
              </a:rPr>
              <a:t> (pendinginan) setelah tes usai.</a:t>
            </a:r>
          </a:p>
        </p:txBody>
      </p:sp>
      <p:pic>
        <p:nvPicPr>
          <p:cNvPr id="15" name="Picture 14" descr="image.png"/>
          <p:cNvPicPr>
            <a:picLocks noChangeAspect="1"/>
          </p:cNvPicPr>
          <p:nvPr/>
        </p:nvPicPr>
        <p:blipFill>
          <a:blip r:embed="rId9"/>
          <a:stretch>
            <a:fillRect/>
          </a:stretch>
        </p:blipFill>
        <p:spPr>
          <a:xfrm>
            <a:off x="4730799" y="2928937"/>
            <a:ext cx="266700" cy="266700"/>
          </a:xfrm>
          <a:prstGeom prst="rect">
            <a:avLst/>
          </a:prstGeom>
        </p:spPr>
      </p:pic>
      <p:pic>
        <p:nvPicPr>
          <p:cNvPr id="16" name="Picture 15" descr="image.png"/>
          <p:cNvPicPr>
            <a:picLocks noChangeAspect="1"/>
          </p:cNvPicPr>
          <p:nvPr/>
        </p:nvPicPr>
        <p:blipFill>
          <a:blip r:embed="rId10"/>
          <a:stretch>
            <a:fillRect/>
          </a:stretch>
        </p:blipFill>
        <p:spPr>
          <a:xfrm>
            <a:off x="8537674" y="2928937"/>
            <a:ext cx="171450" cy="266700"/>
          </a:xfrm>
          <a:prstGeom prst="rect">
            <a:avLst/>
          </a:prstGeom>
        </p:spPr>
      </p:pic>
      <p:sp>
        <p:nvSpPr>
          <p:cNvPr id="17" name="TextBox 16"/>
          <p:cNvSpPr txBox="1"/>
          <p:nvPr/>
        </p:nvSpPr>
        <p:spPr>
          <a:xfrm>
            <a:off x="571500" y="476250"/>
            <a:ext cx="11601450" cy="542925"/>
          </a:xfrm>
          <a:prstGeom prst="rect">
            <a:avLst/>
          </a:prstGeom>
          <a:noFill/>
        </p:spPr>
        <p:txBody>
          <a:bodyPr wrap="square" lIns="0" rIns="0" tIns="0" bIns="0" anchor="t">
            <a:spAutoFit/>
          </a:bodyPr>
          <a:lstStyle/>
          <a:p>
            <a:pPr algn="l"/>
            <a:r>
              <a:rPr b="1" sz="2850" i="0" u="none">
                <a:solidFill>
                  <a:srgbClr val="F8FAFC"/>
                </a:solidFill>
                <a:latin typeface="Poppins"/>
              </a:rPr>
              <a:t>Tips Sukses Beep Test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3028950"/>
            <a:ext cx="5334000" cy="1238250"/>
          </a:xfrm>
          <a:prstGeom prst="rect">
            <a:avLst/>
          </a:prstGeom>
        </p:spPr>
      </p:pic>
      <p:sp>
        <p:nvSpPr>
          <p:cNvPr id="4" name="TextBox 3"/>
          <p:cNvSpPr txBox="1"/>
          <p:nvPr/>
        </p:nvSpPr>
        <p:spPr>
          <a:xfrm>
            <a:off x="571500" y="4362450"/>
            <a:ext cx="5334000" cy="285750"/>
          </a:xfrm>
          <a:prstGeom prst="rect">
            <a:avLst/>
          </a:prstGeom>
          <a:noFill/>
        </p:spPr>
        <p:txBody>
          <a:bodyPr wrap="square" lIns="0" rIns="0" tIns="0" bIns="0" anchor="t">
            <a:spAutoFit/>
          </a:bodyPr>
          <a:lstStyle/>
          <a:p>
            <a:pPr algn="ctr"/>
            <a:r>
              <a:rPr b="1" sz="1800" i="0" u="none">
                <a:solidFill>
                  <a:srgbClr val="F8FAFC"/>
                </a:solidFill>
                <a:latin typeface="Plus Jakarta Sans"/>
              </a:rPr>
              <a:t>Jarak Lintasan Standar</a:t>
            </a:r>
          </a:p>
        </p:txBody>
      </p:sp>
      <p:sp>
        <p:nvSpPr>
          <p:cNvPr id="5" name="TextBox 4"/>
          <p:cNvSpPr txBox="1"/>
          <p:nvPr/>
        </p:nvSpPr>
        <p:spPr>
          <a:xfrm>
            <a:off x="6286500" y="3028950"/>
            <a:ext cx="5600700" cy="371475"/>
          </a:xfrm>
          <a:prstGeom prst="rect">
            <a:avLst/>
          </a:prstGeom>
          <a:noFill/>
        </p:spPr>
        <p:txBody>
          <a:bodyPr wrap="square" lIns="0" rIns="0" tIns="0" bIns="0" anchor="t">
            <a:spAutoFit/>
          </a:bodyPr>
          <a:lstStyle/>
          <a:p>
            <a:pPr algn="l"/>
            <a:r>
              <a:rPr b="1" sz="1950" i="0" u="none">
                <a:solidFill>
                  <a:srgbClr val="F8FAFC"/>
                </a:solidFill>
                <a:latin typeface="Poppins"/>
              </a:rPr>
              <a:t>Standar Internasional</a:t>
            </a:r>
          </a:p>
        </p:txBody>
      </p:sp>
      <p:sp>
        <p:nvSpPr>
          <p:cNvPr id="6" name="TextBox 5"/>
          <p:cNvSpPr txBox="1"/>
          <p:nvPr/>
        </p:nvSpPr>
        <p:spPr>
          <a:xfrm>
            <a:off x="6286500" y="3514725"/>
            <a:ext cx="5334000" cy="1028700"/>
          </a:xfrm>
          <a:prstGeom prst="rect">
            <a:avLst/>
          </a:prstGeom>
          <a:noFill/>
        </p:spPr>
        <p:txBody>
          <a:bodyPr wrap="square" lIns="0" rIns="0" tIns="0" bIns="0" anchor="t">
            <a:spAutoFit/>
          </a:bodyPr>
          <a:lstStyle/>
          <a:p>
            <a:pPr algn="l">
              <a:lnSpc>
                <a:spcPts val="2025"/>
              </a:lnSpc>
            </a:pPr>
            <a:r>
              <a:rPr b="0" sz="1350" i="0" u="none">
                <a:solidFill>
                  <a:srgbClr val="CBD5E1"/>
                </a:solidFill>
                <a:latin typeface="Plus Jakarta Sans"/>
              </a:rPr>
              <a:t>Jarak 20 meter adalah ukuran baku yang teruji secara ilmiah untuk mengukur ketahanan fisik aerobik. Ukuran ini memungkinkan evaluasi kebugaran secara bersamaan dalam kelompok besar siswa di sekolah dengan efektif dan aman.</a:t>
            </a:r>
          </a:p>
        </p:txBody>
      </p:sp>
      <p:sp>
        <p:nvSpPr>
          <p:cNvPr id="7" name="TextBox 6"/>
          <p:cNvSpPr txBox="1"/>
          <p:nvPr/>
        </p:nvSpPr>
        <p:spPr>
          <a:xfrm>
            <a:off x="571500" y="476250"/>
            <a:ext cx="11601450" cy="542925"/>
          </a:xfrm>
          <a:prstGeom prst="rect">
            <a:avLst/>
          </a:prstGeom>
          <a:noFill/>
        </p:spPr>
        <p:txBody>
          <a:bodyPr wrap="square" lIns="0" rIns="0" tIns="0" bIns="0" anchor="t">
            <a:spAutoFit/>
          </a:bodyPr>
          <a:lstStyle/>
          <a:p>
            <a:pPr algn="l"/>
            <a:r>
              <a:rPr b="1" sz="2850" i="0" u="none">
                <a:solidFill>
                  <a:srgbClr val="F8FAFC"/>
                </a:solidFill>
                <a:latin typeface="Poppins"/>
              </a:rPr>
              <a:t>Angka Kunci Beep Test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295275" y="2386012"/>
            <a:ext cx="11601450" cy="1028700"/>
          </a:xfrm>
          <a:prstGeom prst="rect">
            <a:avLst/>
          </a:prstGeom>
          <a:noFill/>
        </p:spPr>
        <p:txBody>
          <a:bodyPr wrap="square" lIns="0" rIns="0" tIns="0" bIns="0" anchor="t">
            <a:spAutoFit/>
          </a:bodyPr>
          <a:lstStyle/>
          <a:p>
            <a:pPr algn="ctr"/>
            <a:r>
              <a:rPr b="1" sz="5400" i="0" u="none">
                <a:solidFill>
                  <a:srgbClr val="F8FAFC"/>
                </a:solidFill>
                <a:latin typeface="Poppins"/>
              </a:rPr>
              <a:t>Ada Pertanyaan?</a:t>
            </a:r>
          </a:p>
        </p:txBody>
      </p:sp>
      <p:sp>
        <p:nvSpPr>
          <p:cNvPr id="4" name="TextBox 3"/>
          <p:cNvSpPr txBox="1"/>
          <p:nvPr/>
        </p:nvSpPr>
        <p:spPr>
          <a:xfrm>
            <a:off x="571500" y="3557587"/>
            <a:ext cx="11049000" cy="342900"/>
          </a:xfrm>
          <a:prstGeom prst="rect">
            <a:avLst/>
          </a:prstGeom>
          <a:noFill/>
        </p:spPr>
        <p:txBody>
          <a:bodyPr wrap="square" lIns="0" rIns="0" tIns="0" bIns="0" anchor="t">
            <a:spAutoFit/>
          </a:bodyPr>
          <a:lstStyle/>
          <a:p>
            <a:pPr algn="ctr">
              <a:lnSpc>
                <a:spcPts val="2700"/>
              </a:lnSpc>
            </a:pPr>
            <a:r>
              <a:rPr b="0" sz="1800" i="0" u="none">
                <a:solidFill>
                  <a:srgbClr val="CBD5E1"/>
                </a:solidFill>
                <a:latin typeface="Plus Jakarta Sans"/>
              </a:rPr>
              <a:t>Mari persiapkan fisik, capai hasil terbaik, dan tingkatkan kebugaran jasmani bersama!</a:t>
            </a:r>
          </a:p>
        </p:txBody>
      </p:sp>
      <p:sp>
        <p:nvSpPr>
          <p:cNvPr id="5" name="TextBox 4"/>
          <p:cNvSpPr txBox="1"/>
          <p:nvPr/>
        </p:nvSpPr>
        <p:spPr>
          <a:xfrm>
            <a:off x="571500" y="4233862"/>
            <a:ext cx="11049000" cy="238125"/>
          </a:xfrm>
          <a:prstGeom prst="rect">
            <a:avLst/>
          </a:prstGeom>
          <a:noFill/>
        </p:spPr>
        <p:txBody>
          <a:bodyPr wrap="square" lIns="171450" rIns="0" tIns="0" bIns="0" anchor="t">
            <a:spAutoFit/>
          </a:bodyPr>
          <a:lstStyle/>
          <a:p>
            <a:pPr algn="ctr"/>
            <a:r>
              <a:rPr b="0" sz="1500" i="0" u="none">
                <a:solidFill>
                  <a:srgbClr val="4ADE80"/>
                </a:solidFill>
                <a:latin typeface="Plus Jakarta Sans SemiBold"/>
              </a:rPr>
              <a:t>Salam Olahraga - PJOK SMP Kelas 9 (Fase D)</a:t>
            </a:r>
          </a:p>
        </p:txBody>
      </p:sp>
      <p:pic>
        <p:nvPicPr>
          <p:cNvPr id="6" name="Picture 5" descr="image.png"/>
          <p:cNvPicPr>
            <a:picLocks noChangeAspect="1"/>
          </p:cNvPicPr>
          <p:nvPr/>
        </p:nvPicPr>
        <p:blipFill>
          <a:blip r:embed="rId3"/>
          <a:stretch>
            <a:fillRect/>
          </a:stretch>
        </p:blipFill>
        <p:spPr>
          <a:xfrm>
            <a:off x="3962400" y="4271962"/>
            <a:ext cx="171450" cy="1905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1462087" y="2690812"/>
            <a:ext cx="9267825" cy="7715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462087" y="3462337"/>
            <a:ext cx="9267825" cy="7715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462087" y="3452812"/>
            <a:ext cx="9267825"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462087" y="3452812"/>
            <a:ext cx="9267825"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462087" y="4224337"/>
            <a:ext cx="9267825"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462087" y="4224337"/>
            <a:ext cx="9267825"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1462087" y="2833687"/>
            <a:ext cx="857250" cy="476250"/>
          </a:xfrm>
          <a:prstGeom prst="rect">
            <a:avLst/>
          </a:prstGeom>
        </p:spPr>
      </p:pic>
      <p:sp>
        <p:nvSpPr>
          <p:cNvPr id="10" name="TextBox 9"/>
          <p:cNvSpPr txBox="1"/>
          <p:nvPr/>
        </p:nvSpPr>
        <p:spPr>
          <a:xfrm>
            <a:off x="2557462" y="2840831"/>
            <a:ext cx="8172450" cy="185737"/>
          </a:xfrm>
          <a:prstGeom prst="rect">
            <a:avLst/>
          </a:prstGeom>
          <a:noFill/>
        </p:spPr>
        <p:txBody>
          <a:bodyPr wrap="square" lIns="0" rIns="0" tIns="0" bIns="0" anchor="t">
            <a:spAutoFit/>
          </a:bodyPr>
          <a:lstStyle/>
          <a:p>
            <a:pPr algn="l">
              <a:lnSpc>
                <a:spcPts val="1462"/>
              </a:lnSpc>
            </a:pPr>
            <a:r>
              <a:rPr b="0" sz="975" i="0" u="none">
                <a:solidFill>
                  <a:srgbClr val="CBD5E1"/>
                </a:solidFill>
                <a:latin typeface="Plus Jakarta Sans"/>
              </a:rPr>
              <a:t>https://phecanada.ca/sites/default/files/content/images/journal/Screenshot%202025-05-09%20at%201.47.03%E2%80%AFPM.png</a:t>
            </a:r>
          </a:p>
        </p:txBody>
      </p:sp>
      <p:sp>
        <p:nvSpPr>
          <p:cNvPr id="11" name="TextBox 10"/>
          <p:cNvSpPr txBox="1"/>
          <p:nvPr/>
        </p:nvSpPr>
        <p:spPr>
          <a:xfrm>
            <a:off x="2557462" y="3074193"/>
            <a:ext cx="8172450" cy="228600"/>
          </a:xfrm>
          <a:prstGeom prst="rect">
            <a:avLst/>
          </a:prstGeom>
          <a:noFill/>
        </p:spPr>
        <p:txBody>
          <a:bodyPr wrap="square" lIns="0" rIns="0" tIns="0" bIns="0" anchor="t">
            <a:spAutoFit/>
          </a:bodyPr>
          <a:lstStyle/>
          <a:p>
            <a:pPr algn="l">
              <a:lnSpc>
                <a:spcPts val="1800"/>
              </a:lnSpc>
            </a:pPr>
            <a:r>
              <a:rPr b="0" sz="1200" i="0" u="none">
                <a:solidFill>
                  <a:srgbClr val="CBD5E1"/>
                </a:solidFill>
                <a:latin typeface="Plus Jakarta Sans"/>
              </a:rPr>
              <a:t>Source: </a:t>
            </a:r>
            <a:r>
              <a:rPr b="0" sz="1200" i="0" u="none">
                <a:solidFill>
                  <a:srgbClr val="4F46E5"/>
                </a:solidFill>
                <a:latin typeface="Plus Jakarta Sans"/>
              </a:rPr>
              <a:t>phecanada.ca</a:t>
            </a:r>
          </a:p>
        </p:txBody>
      </p:sp>
      <p:pic>
        <p:nvPicPr>
          <p:cNvPr id="12" name="Picture 11" descr="image.png"/>
          <p:cNvPicPr>
            <a:picLocks noChangeAspect="1"/>
          </p:cNvPicPr>
          <p:nvPr/>
        </p:nvPicPr>
        <p:blipFill>
          <a:blip r:embed="rId4"/>
          <a:stretch>
            <a:fillRect/>
          </a:stretch>
        </p:blipFill>
        <p:spPr>
          <a:xfrm>
            <a:off x="1462087" y="3605212"/>
            <a:ext cx="857250" cy="476250"/>
          </a:xfrm>
          <a:prstGeom prst="rect">
            <a:avLst/>
          </a:prstGeom>
        </p:spPr>
      </p:pic>
      <p:sp>
        <p:nvSpPr>
          <p:cNvPr id="13" name="TextBox 12"/>
          <p:cNvSpPr txBox="1"/>
          <p:nvPr/>
        </p:nvSpPr>
        <p:spPr>
          <a:xfrm>
            <a:off x="2557462" y="3612356"/>
            <a:ext cx="8172450" cy="185737"/>
          </a:xfrm>
          <a:prstGeom prst="rect">
            <a:avLst/>
          </a:prstGeom>
          <a:noFill/>
        </p:spPr>
        <p:txBody>
          <a:bodyPr wrap="square" lIns="0" rIns="0" tIns="0" bIns="0" anchor="t">
            <a:spAutoFit/>
          </a:bodyPr>
          <a:lstStyle/>
          <a:p>
            <a:pPr algn="l">
              <a:lnSpc>
                <a:spcPts val="1462"/>
              </a:lnSpc>
            </a:pPr>
            <a:r>
              <a:rPr b="0" sz="975" i="0" u="none">
                <a:solidFill>
                  <a:srgbClr val="CBD5E1"/>
                </a:solidFill>
                <a:latin typeface="Plus Jakarta Sans"/>
              </a:rPr>
              <a:t>https://image.slidesharecdn.com/beeptest-210123200315/85/Beep-test-4-320.jpg</a:t>
            </a:r>
          </a:p>
        </p:txBody>
      </p:sp>
      <p:sp>
        <p:nvSpPr>
          <p:cNvPr id="14" name="TextBox 13"/>
          <p:cNvSpPr txBox="1"/>
          <p:nvPr/>
        </p:nvSpPr>
        <p:spPr>
          <a:xfrm>
            <a:off x="2557462" y="3845718"/>
            <a:ext cx="8172450" cy="228600"/>
          </a:xfrm>
          <a:prstGeom prst="rect">
            <a:avLst/>
          </a:prstGeom>
          <a:noFill/>
        </p:spPr>
        <p:txBody>
          <a:bodyPr wrap="square" lIns="0" rIns="0" tIns="0" bIns="0" anchor="t">
            <a:spAutoFit/>
          </a:bodyPr>
          <a:lstStyle/>
          <a:p>
            <a:pPr algn="l">
              <a:lnSpc>
                <a:spcPts val="1800"/>
              </a:lnSpc>
            </a:pPr>
            <a:r>
              <a:rPr b="0" sz="1200" i="0" u="none">
                <a:solidFill>
                  <a:srgbClr val="CBD5E1"/>
                </a:solidFill>
                <a:latin typeface="Plus Jakarta Sans"/>
              </a:rPr>
              <a:t>Source: </a:t>
            </a:r>
            <a:r>
              <a:rPr b="0" sz="1200" i="0" u="none">
                <a:solidFill>
                  <a:srgbClr val="4F46E5"/>
                </a:solidFill>
                <a:latin typeface="Plus Jakarta Sans"/>
              </a:rPr>
              <a:t>pt.slideshare.net</a:t>
            </a:r>
          </a:p>
        </p:txBody>
      </p:sp>
      <p:pic>
        <p:nvPicPr>
          <p:cNvPr id="15" name="Picture 14" descr="image.png"/>
          <p:cNvPicPr>
            <a:picLocks noChangeAspect="1"/>
          </p:cNvPicPr>
          <p:nvPr/>
        </p:nvPicPr>
        <p:blipFill>
          <a:blip r:embed="rId5"/>
          <a:stretch>
            <a:fillRect/>
          </a:stretch>
        </p:blipFill>
        <p:spPr>
          <a:xfrm>
            <a:off x="1462087" y="4376737"/>
            <a:ext cx="857250" cy="476250"/>
          </a:xfrm>
          <a:prstGeom prst="rect">
            <a:avLst/>
          </a:prstGeom>
        </p:spPr>
      </p:pic>
      <p:sp>
        <p:nvSpPr>
          <p:cNvPr id="16" name="TextBox 15"/>
          <p:cNvSpPr txBox="1"/>
          <p:nvPr/>
        </p:nvSpPr>
        <p:spPr>
          <a:xfrm>
            <a:off x="2557462" y="4383881"/>
            <a:ext cx="8172450" cy="185737"/>
          </a:xfrm>
          <a:prstGeom prst="rect">
            <a:avLst/>
          </a:prstGeom>
          <a:noFill/>
        </p:spPr>
        <p:txBody>
          <a:bodyPr wrap="square" lIns="0" rIns="0" tIns="0" bIns="0" anchor="t">
            <a:spAutoFit/>
          </a:bodyPr>
          <a:lstStyle/>
          <a:p>
            <a:pPr algn="l">
              <a:lnSpc>
                <a:spcPts val="1462"/>
              </a:lnSpc>
            </a:pPr>
            <a:r>
              <a:rPr b="0" sz="975" i="0" u="none">
                <a:solidFill>
                  <a:srgbClr val="CBD5E1"/>
                </a:solidFill>
                <a:latin typeface="Plus Jakarta Sans"/>
              </a:rPr>
              <a:t>https://performancephysique.co.uk/wp-content/uploads/2020/10/pp_bespoke_training_methods.jpg</a:t>
            </a:r>
          </a:p>
        </p:txBody>
      </p:sp>
      <p:sp>
        <p:nvSpPr>
          <p:cNvPr id="17" name="TextBox 16"/>
          <p:cNvSpPr txBox="1"/>
          <p:nvPr/>
        </p:nvSpPr>
        <p:spPr>
          <a:xfrm>
            <a:off x="2557462" y="4617243"/>
            <a:ext cx="8172450" cy="228600"/>
          </a:xfrm>
          <a:prstGeom prst="rect">
            <a:avLst/>
          </a:prstGeom>
          <a:noFill/>
        </p:spPr>
        <p:txBody>
          <a:bodyPr wrap="square" lIns="0" rIns="0" tIns="0" bIns="0" anchor="t">
            <a:spAutoFit/>
          </a:bodyPr>
          <a:lstStyle/>
          <a:p>
            <a:pPr algn="l">
              <a:lnSpc>
                <a:spcPts val="1800"/>
              </a:lnSpc>
            </a:pPr>
            <a:r>
              <a:rPr b="0" sz="1200" i="0" u="none">
                <a:solidFill>
                  <a:srgbClr val="CBD5E1"/>
                </a:solidFill>
                <a:latin typeface="Plus Jakarta Sans"/>
              </a:rPr>
              <a:t>Source: </a:t>
            </a:r>
            <a:r>
              <a:rPr b="0" sz="1200" i="0" u="none">
                <a:solidFill>
                  <a:srgbClr val="4F46E5"/>
                </a:solidFill>
                <a:latin typeface="Plus Jakarta Sans"/>
              </a:rPr>
              <a:t>performancephysique.co.uk</a:t>
            </a:r>
          </a:p>
        </p:txBody>
      </p:sp>
      <p:sp>
        <p:nvSpPr>
          <p:cNvPr id="18" name="TextBox 17"/>
          <p:cNvSpPr txBox="1"/>
          <p:nvPr/>
        </p:nvSpPr>
        <p:spPr>
          <a:xfrm>
            <a:off x="571500" y="476250"/>
            <a:ext cx="11601450" cy="542925"/>
          </a:xfrm>
          <a:prstGeom prst="rect">
            <a:avLst/>
          </a:prstGeom>
          <a:noFill/>
        </p:spPr>
        <p:txBody>
          <a:bodyPr wrap="square" lIns="0" rIns="0" tIns="0" bIns="0" anchor="t">
            <a:spAutoFit/>
          </a:bodyPr>
          <a:lstStyle/>
          <a:p>
            <a:pPr algn="l"/>
            <a:r>
              <a:rPr b="1" sz="2850" i="0" u="none">
                <a:solidFill>
                  <a:srgbClr val="F8FAFC"/>
                </a:solidFill>
                <a:latin typeface="Poppins"/>
              </a:rPr>
              <a:t>Image Sources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