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fcf51893-55a1-72d1-c631-ccdd47863063}">
          <p14:sldIdLst>
            <p14:sldId id="256"/>
            <p14:sldId id="257"/>
          </p14:sldIdLst>
        </p14:section>
        <p14:section name="Dribbling" id="{5e29576b-20ee-6622-0ce9-0a8ed998654c}">
          <p14:sldIdLst>
            <p14:sldId id="258"/>
            <p14:sldId id="259"/>
            <p14:sldId id="260"/>
          </p14:sldIdLst>
        </p14:section>
        <p14:section name="Passing" id="{e2a27a17-8c37-eae8-4f1a-1c2dcb737284}">
          <p14:sldIdLst>
            <p14:sldId id="261"/>
            <p14:sldId id="262"/>
          </p14:sldIdLst>
        </p14:section>
        <p14:section name="Latihan &amp; Evaluasi" id="{d871b4ca-d64e-6513-72d7-dd8e94fb76fb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tunjukkan bola basket, tanyakan siapa yang pernah bermain basket. Sampaikan bahwa hari ini kita mempelajari dua keterampilan dasar: dribbling (menggiring) dan passing (mengoper).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tujuan pembelajaran. Minta siswa menandai tujuan mana yang menurut mereka paling menantang.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kapan dalam pertandingan pemain harus menggiring bola? Jelaskan aturan double dribble: setelah berhenti menggiring dan memegang bola dengan dua tangan, pemain tidak boleh menggiring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Peragakan setiap langkah satu per satu. Minta siswa mencoba di tempat tanpa bergerak selama 30 detik sebelum lanjut ke jenis dribbling.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kedua gambar: perhatikan tinggi pantulan bola, posisi badan, dan tangan yang bebas melindungi bola pada dribbling rendah (bayangan abu-abu adalah lawan).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empat langkah: pegang, siap, langkah-dorong, lanjutkan gerakan (follow through). Passing yang baik membutuhkan komunikasi: panggil nama teman atau beri isyarat tangan.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Garis putus-putus menunjukkan lintasan bola. Minta siswa menyebutkan situasi pertandingan yang cocok untuk tiap jenis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 siswa menjadi kelompok 4–6 orang. Setiap siswa mencoba kedua latihan. Guru berkeliling mengamati posisi badan, pandangan, dan kerja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siswa memperagakan kesalahan (secara sengaja) dan temannya memberi perbaikan. Ingatkan pentingnya pemanasan untuk mencegah cedera pergelangan dan jari.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(1) ujung jari dan pergelangan tangan; (2) chest pass, bounce pass, overhead pass; (3) saat dijaga lawan, untuk melindungi bola dengan badan merendah. Akhiri dengan refleksi singkat dan apresiasi untuk kerja sama siswa.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PJOK  •  Kelas IX SMP  •  Bola Basket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PJOK  •  Kelas IX SMP  •  Bola Basket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rotan bola"/>
          <p:cNvSpPr/>
          <p:nvPr/>
        </p:nvSpPr>
        <p:spPr>
          <a:xfrm>
            <a:off x="5074920" y="320040"/>
            <a:ext cx="4114800" cy="411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" name="Gambar bola basket" descr="Bola bas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731520"/>
            <a:ext cx="3291840" cy="3291840"/>
          </a:xfrm>
          <a:prstGeom prst="rect">
            <a:avLst/>
          </a:prstGeom>
        </p:spPr>
      </p:pic>
      <p:sp>
        <p:nvSpPr>
          <p:cNvPr id="4" name="Label PJOK"/>
          <p:cNvSpPr/>
          <p:nvPr/>
        </p:nvSpPr>
        <p:spPr>
          <a:xfrm>
            <a:off x="548640" y="868680"/>
            <a:ext cx="2331720" cy="36576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ks label PJOK"/>
          <p:cNvSpPr txBox="1"/>
          <p:nvPr/>
        </p:nvSpPr>
        <p:spPr>
          <a:xfrm>
            <a:off x="548640" y="868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PJOK  •  KELAS IX SMP</a:t>
            </a:r>
            <a:endParaRPr lang="en-US" sz="1300" dirty="0"/>
          </a:p>
        </p:txBody>
      </p:sp>
      <p:sp>
        <p:nvSpPr>
          <p:cNvPr id="6" name="Judul"/>
          <p:cNvSpPr txBox="1"/>
          <p:nvPr/>
        </p:nvSpPr>
        <p:spPr>
          <a:xfrm>
            <a:off x="548640" y="1417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Bola Basket</a:t>
            </a:r>
            <a:endParaRPr lang="en-US" sz="5400" dirty="0"/>
          </a:p>
        </p:txBody>
      </p:sp>
      <p:sp>
        <p:nvSpPr>
          <p:cNvPr id="7" name="Subjudul utama"/>
          <p:cNvSpPr txBox="1"/>
          <p:nvPr/>
        </p:nvSpPr>
        <p:spPr>
          <a:xfrm>
            <a:off x="548640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Dribbling &amp; Passing</a:t>
            </a:r>
            <a:endParaRPr lang="en-US" sz="2800" dirty="0"/>
          </a:p>
        </p:txBody>
      </p:sp>
      <p:sp>
        <p:nvSpPr>
          <p:cNvPr id="8" name="Subjudul"/>
          <p:cNvSpPr txBox="1"/>
          <p:nvPr/>
        </p:nvSpPr>
        <p:spPr>
          <a:xfrm>
            <a:off x="54864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Media Ajar Pendidikan Jasmani, Olahraga, dan Kesehatan (Fase D)</a:t>
            </a:r>
            <a:endParaRPr lang="en-US" sz="1400" dirty="0"/>
          </a:p>
        </p:txBody>
      </p:sp>
      <p:sp>
        <p:nvSpPr>
          <p:cNvPr id="9" name="Chip Dribbling"/>
          <p:cNvSpPr/>
          <p:nvPr/>
        </p:nvSpPr>
        <p:spPr>
          <a:xfrm>
            <a:off x="548640" y="3977640"/>
            <a:ext cx="1554480" cy="457200"/>
          </a:xfrm>
          <a:prstGeom prst="roundRect">
            <a:avLst>
              <a:gd name="adj" fmla="val 2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kon chip Dribbling" descr="Dribb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114800"/>
            <a:ext cx="182880" cy="182880"/>
          </a:xfrm>
          <a:prstGeom prst="rect">
            <a:avLst/>
          </a:prstGeom>
        </p:spPr>
      </p:pic>
      <p:sp>
        <p:nvSpPr>
          <p:cNvPr id="11" name="Teks chip Dribbling"/>
          <p:cNvSpPr txBox="1"/>
          <p:nvPr/>
        </p:nvSpPr>
        <p:spPr>
          <a:xfrm>
            <a:off x="96012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Dribbling</a:t>
            </a:r>
            <a:endParaRPr lang="en-US" sz="1400" dirty="0"/>
          </a:p>
        </p:txBody>
      </p:sp>
      <p:sp>
        <p:nvSpPr>
          <p:cNvPr id="12" name="Chip Passing"/>
          <p:cNvSpPr/>
          <p:nvPr/>
        </p:nvSpPr>
        <p:spPr>
          <a:xfrm>
            <a:off x="2286000" y="3977640"/>
            <a:ext cx="1554480" cy="457200"/>
          </a:xfrm>
          <a:prstGeom prst="roundRect">
            <a:avLst>
              <a:gd name="adj" fmla="val 2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kon chip Passing" descr="Pass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4114800"/>
            <a:ext cx="182880" cy="182880"/>
          </a:xfrm>
          <a:prstGeom prst="rect">
            <a:avLst/>
          </a:prstGeom>
        </p:spPr>
      </p:pic>
      <p:sp>
        <p:nvSpPr>
          <p:cNvPr id="14" name="Teks chip Passing"/>
          <p:cNvSpPr txBox="1"/>
          <p:nvPr/>
        </p:nvSpPr>
        <p:spPr>
          <a:xfrm>
            <a:off x="269748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Tujuan Pembelajaran</a:t>
            </a:r>
            <a:endParaRPr lang="en-US" sz="3400" dirty="0"/>
          </a:p>
        </p:txBody>
      </p:sp>
      <p:sp>
        <p:nvSpPr>
          <p:cNvPr id="3" name="Kartu intro"/>
          <p:cNvSpPr/>
          <p:nvPr/>
        </p:nvSpPr>
        <p:spPr>
          <a:xfrm>
            <a:off x="457200" y="1188720"/>
            <a:ext cx="2743200" cy="3429000"/>
          </a:xfrm>
          <a:prstGeom prst="roundRect">
            <a:avLst>
              <a:gd name="adj" fmla="val 4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Gambar bola" descr="Bola bas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1737360" cy="1737360"/>
          </a:xfrm>
          <a:prstGeom prst="rect">
            <a:avLst/>
          </a:prstGeom>
        </p:spPr>
      </p:pic>
      <p:sp>
        <p:nvSpPr>
          <p:cNvPr id="5" name="Teks intro"/>
          <p:cNvSpPr txBox="1"/>
          <p:nvPr/>
        </p:nvSpPr>
        <p:spPr>
          <a:xfrm>
            <a:off x="6858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Setelah pembelajaran ini, kamu mampu…</a:t>
            </a:r>
            <a:endParaRPr lang="en-US" sz="1800" dirty="0"/>
          </a:p>
        </p:txBody>
      </p:sp>
      <p:sp>
        <p:nvSpPr>
          <p:cNvPr id="6" name="Kartu tujuan 1"/>
          <p:cNvSpPr/>
          <p:nvPr/>
        </p:nvSpPr>
        <p:spPr>
          <a:xfrm>
            <a:off x="3474720" y="1188720"/>
            <a:ext cx="52120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ujuan 1 lingkaran"/>
          <p:cNvSpPr/>
          <p:nvPr/>
        </p:nvSpPr>
        <p:spPr>
          <a:xfrm>
            <a:off x="3611880" y="1298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ujuan 1 ikon" descr="Tujua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400861"/>
            <a:ext cx="307238" cy="307238"/>
          </a:xfrm>
          <a:prstGeom prst="rect">
            <a:avLst/>
          </a:prstGeom>
        </p:spPr>
      </p:pic>
      <p:sp>
        <p:nvSpPr>
          <p:cNvPr id="9" name="Teks tujuan 1"/>
          <p:cNvSpPr txBox="1"/>
          <p:nvPr/>
        </p:nvSpPr>
        <p:spPr>
          <a:xfrm>
            <a:off x="4297680" y="11887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Menjelaskan pengertian, manfaat, dan jenis dribbling</a:t>
            </a:r>
            <a:endParaRPr lang="en-US" sz="1500" dirty="0"/>
          </a:p>
        </p:txBody>
      </p:sp>
      <p:sp>
        <p:nvSpPr>
          <p:cNvPr id="10" name="Kartu tujuan 2"/>
          <p:cNvSpPr/>
          <p:nvPr/>
        </p:nvSpPr>
        <p:spPr>
          <a:xfrm>
            <a:off x="3474720" y="2057400"/>
            <a:ext cx="52120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ujuan 2 lingkaran"/>
          <p:cNvSpPr/>
          <p:nvPr/>
        </p:nvSpPr>
        <p:spPr>
          <a:xfrm>
            <a:off x="3611880" y="21671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ujuan 2 ikon" descr="Tujua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93" y="2269541"/>
            <a:ext cx="307238" cy="307238"/>
          </a:xfrm>
          <a:prstGeom prst="rect">
            <a:avLst/>
          </a:prstGeom>
        </p:spPr>
      </p:pic>
      <p:sp>
        <p:nvSpPr>
          <p:cNvPr id="13" name="Teks tujuan 2"/>
          <p:cNvSpPr txBox="1"/>
          <p:nvPr/>
        </p:nvSpPr>
        <p:spPr>
          <a:xfrm>
            <a:off x="4297680" y="20574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Mempraktikkan dribbling tinggi dan rendah dengan benar</a:t>
            </a:r>
            <a:endParaRPr lang="en-US" sz="1500" dirty="0"/>
          </a:p>
        </p:txBody>
      </p:sp>
      <p:sp>
        <p:nvSpPr>
          <p:cNvPr id="14" name="Kartu tujuan 3"/>
          <p:cNvSpPr/>
          <p:nvPr/>
        </p:nvSpPr>
        <p:spPr>
          <a:xfrm>
            <a:off x="3474720" y="2926080"/>
            <a:ext cx="52120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ujuan 3 lingkaran"/>
          <p:cNvSpPr/>
          <p:nvPr/>
        </p:nvSpPr>
        <p:spPr>
          <a:xfrm>
            <a:off x="3611880" y="3035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ujuan 3 ikon" descr="Tujua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293" y="3138221"/>
            <a:ext cx="307238" cy="307238"/>
          </a:xfrm>
          <a:prstGeom prst="rect">
            <a:avLst/>
          </a:prstGeom>
        </p:spPr>
      </p:pic>
      <p:sp>
        <p:nvSpPr>
          <p:cNvPr id="17" name="Teks tujuan 3"/>
          <p:cNvSpPr txBox="1"/>
          <p:nvPr/>
        </p:nvSpPr>
        <p:spPr>
          <a:xfrm>
            <a:off x="4297680" y="292608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Mempraktikkan chest pass, bounce pass, dan overhead pass</a:t>
            </a:r>
            <a:endParaRPr lang="en-US" sz="1500" dirty="0"/>
          </a:p>
        </p:txBody>
      </p:sp>
      <p:sp>
        <p:nvSpPr>
          <p:cNvPr id="18" name="Kartu tujuan 4"/>
          <p:cNvSpPr/>
          <p:nvPr/>
        </p:nvSpPr>
        <p:spPr>
          <a:xfrm>
            <a:off x="3474720" y="3794760"/>
            <a:ext cx="52120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ujuan 4 lingkaran"/>
          <p:cNvSpPr/>
          <p:nvPr/>
        </p:nvSpPr>
        <p:spPr>
          <a:xfrm>
            <a:off x="3611880" y="39044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Tujuan 4 ikon" descr="Tujua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293" y="4006901"/>
            <a:ext cx="307238" cy="307238"/>
          </a:xfrm>
          <a:prstGeom prst="rect">
            <a:avLst/>
          </a:prstGeom>
        </p:spPr>
      </p:pic>
      <p:sp>
        <p:nvSpPr>
          <p:cNvPr id="21" name="Teks tujuan 4"/>
          <p:cNvSpPr txBox="1"/>
          <p:nvPr/>
        </p:nvSpPr>
        <p:spPr>
          <a:xfrm>
            <a:off x="4297680" y="379476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Menerapkan dribbling dan passing dalam latihan secara sportif dan kompak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Apa Itu Dribbling?</a:t>
            </a:r>
            <a:endParaRPr lang="en-US" sz="3400" dirty="0"/>
          </a:p>
        </p:txBody>
      </p:sp>
      <p:sp>
        <p:nvSpPr>
          <p:cNvPr id="3" name="Kartu definisi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finisi lingkaran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efinisi ikon" descr="Defini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" y="1532534"/>
            <a:ext cx="409651" cy="409651"/>
          </a:xfrm>
          <a:prstGeom prst="rect">
            <a:avLst/>
          </a:prstGeom>
        </p:spPr>
      </p:pic>
      <p:sp>
        <p:nvSpPr>
          <p:cNvPr id="6" name="Teks definisi"/>
          <p:cNvSpPr txBox="1"/>
          <p:nvPr/>
        </p:nvSpPr>
        <p:spPr>
          <a:xfrm>
            <a:off x="1371600" y="11887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Dribbling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adalah teknik memantulkan bola ke lantai secara berulang dengan satu tangan, sambil berjalan, berlari, atau di tempat. Memegang bola dengan dua tangan lalu menggiring lagi disebut pelanggaran </a:t>
            </a:r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double dribble.</a:t>
            </a:r>
            <a:endParaRPr lang="en-US" sz="1500" dirty="0"/>
          </a:p>
        </p:txBody>
      </p:sp>
      <p:sp>
        <p:nvSpPr>
          <p:cNvPr id="7" name="Kartu manfaat 1"/>
          <p:cNvSpPr/>
          <p:nvPr/>
        </p:nvSpPr>
        <p:spPr>
          <a:xfrm>
            <a:off x="457200" y="251460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Manfaat 1 lingkaran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Manfaat 1 ikon" descr="Manfaat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07208"/>
            <a:ext cx="329184" cy="329184"/>
          </a:xfrm>
          <a:prstGeom prst="rect">
            <a:avLst/>
          </a:prstGeom>
        </p:spPr>
      </p:pic>
      <p:sp>
        <p:nvSpPr>
          <p:cNvPr id="10" name="Judul manfaat 1"/>
          <p:cNvSpPr txBox="1"/>
          <p:nvPr/>
        </p:nvSpPr>
        <p:spPr>
          <a:xfrm>
            <a:off x="68580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Membawa Bola Maju</a:t>
            </a:r>
            <a:endParaRPr lang="en-US" sz="1700" dirty="0"/>
          </a:p>
        </p:txBody>
      </p:sp>
      <p:sp>
        <p:nvSpPr>
          <p:cNvPr id="11" name="Teks manfaat 1"/>
          <p:cNvSpPr txBox="1"/>
          <p:nvPr/>
        </p:nvSpPr>
        <p:spPr>
          <a:xfrm>
            <a:off x="68580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Memindahkan bola menuju area ring lawan saat tidak ada teman yang terbuka.</a:t>
            </a:r>
            <a:endParaRPr lang="en-US" sz="1400" dirty="0"/>
          </a:p>
        </p:txBody>
      </p:sp>
      <p:sp>
        <p:nvSpPr>
          <p:cNvPr id="12" name="Kartu manfaat 2"/>
          <p:cNvSpPr/>
          <p:nvPr/>
        </p:nvSpPr>
        <p:spPr>
          <a:xfrm>
            <a:off x="3291840" y="251460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Manfaat 2 lingkaran"/>
          <p:cNvSpPr/>
          <p:nvPr/>
        </p:nvSpPr>
        <p:spPr>
          <a:xfrm>
            <a:off x="352044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Manfaat 2 ikon" descr="Manfaat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807208"/>
            <a:ext cx="329184" cy="329184"/>
          </a:xfrm>
          <a:prstGeom prst="rect">
            <a:avLst/>
          </a:prstGeom>
        </p:spPr>
      </p:pic>
      <p:sp>
        <p:nvSpPr>
          <p:cNvPr id="15" name="Judul manfaat 2"/>
          <p:cNvSpPr txBox="1"/>
          <p:nvPr/>
        </p:nvSpPr>
        <p:spPr>
          <a:xfrm>
            <a:off x="352044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Melewati Lawan</a:t>
            </a:r>
            <a:endParaRPr lang="en-US" sz="1700" dirty="0"/>
          </a:p>
        </p:txBody>
      </p:sp>
      <p:sp>
        <p:nvSpPr>
          <p:cNvPr id="16" name="Teks manfaat 2"/>
          <p:cNvSpPr txBox="1"/>
          <p:nvPr/>
        </p:nvSpPr>
        <p:spPr>
          <a:xfrm>
            <a:off x="352044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Mengubah arah dan kecepatan untuk lolos dari penjagaan.</a:t>
            </a:r>
            <a:endParaRPr lang="en-US" sz="1400" dirty="0"/>
          </a:p>
        </p:txBody>
      </p:sp>
      <p:sp>
        <p:nvSpPr>
          <p:cNvPr id="17" name="Kartu manfaat 3"/>
          <p:cNvSpPr/>
          <p:nvPr/>
        </p:nvSpPr>
        <p:spPr>
          <a:xfrm>
            <a:off x="6126480" y="2514600"/>
            <a:ext cx="25603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Manfaat 3 lingkaran"/>
          <p:cNvSpPr/>
          <p:nvPr/>
        </p:nvSpPr>
        <p:spPr>
          <a:xfrm>
            <a:off x="635508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Manfaat 3 ikon" descr="Manfaat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807208"/>
            <a:ext cx="329184" cy="329184"/>
          </a:xfrm>
          <a:prstGeom prst="rect">
            <a:avLst/>
          </a:prstGeom>
        </p:spPr>
      </p:pic>
      <p:sp>
        <p:nvSpPr>
          <p:cNvPr id="20" name="Judul manfaat 3"/>
          <p:cNvSpPr txBox="1"/>
          <p:nvPr/>
        </p:nvSpPr>
        <p:spPr>
          <a:xfrm>
            <a:off x="635508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Melindungi Bola</a:t>
            </a:r>
            <a:endParaRPr lang="en-US" sz="1700" dirty="0"/>
          </a:p>
        </p:txBody>
      </p:sp>
      <p:sp>
        <p:nvSpPr>
          <p:cNvPr id="21" name="Teks manfaat 3"/>
          <p:cNvSpPr txBox="1"/>
          <p:nvPr/>
        </p:nvSpPr>
        <p:spPr>
          <a:xfrm>
            <a:off x="635508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Menjaga penguasaan bola sambil menunggu teman bergerak.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Teknik Dasar Dribbling</a:t>
            </a:r>
            <a:endParaRPr lang="en-US" sz="3400" dirty="0"/>
          </a:p>
        </p:txBody>
      </p:sp>
      <p:sp>
        <p:nvSpPr>
          <p:cNvPr id="3" name="Kartu teknik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knik 1 lingkaran"/>
          <p:cNvSpPr/>
          <p:nvPr/>
        </p:nvSpPr>
        <p:spPr>
          <a:xfrm>
            <a:off x="68580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eknik 1 ikon" descr="Tekni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6" name="Judul teknik 1"/>
          <p:cNvSpPr txBox="1"/>
          <p:nvPr/>
        </p:nvSpPr>
        <p:spPr>
          <a:xfrm>
            <a:off x="15544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Posisi Badan</a:t>
            </a:r>
            <a:endParaRPr lang="en-US" sz="1800" dirty="0"/>
          </a:p>
        </p:txBody>
      </p:sp>
      <p:sp>
        <p:nvSpPr>
          <p:cNvPr id="7" name="Teks teknik 1"/>
          <p:cNvSpPr txBox="1"/>
          <p:nvPr/>
        </p:nvSpPr>
        <p:spPr>
          <a:xfrm>
            <a:off x="155448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Lutut ditekuk, badan sedikit condong ke depan, kepala tegak.</a:t>
            </a:r>
            <a:endParaRPr lang="en-US" sz="1400" dirty="0"/>
          </a:p>
        </p:txBody>
      </p:sp>
      <p:sp>
        <p:nvSpPr>
          <p:cNvPr id="8" name="Kartu teknik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knik 2 lingkaran"/>
          <p:cNvSpPr/>
          <p:nvPr/>
        </p:nvSpPr>
        <p:spPr>
          <a:xfrm>
            <a:off x="4892040" y="164592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Teknik 2 ikon" descr="Tekni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411480" cy="411480"/>
          </a:xfrm>
          <a:prstGeom prst="rect">
            <a:avLst/>
          </a:prstGeom>
        </p:spPr>
      </p:pic>
      <p:sp>
        <p:nvSpPr>
          <p:cNvPr id="11" name="Judul teknik 2"/>
          <p:cNvSpPr txBox="1"/>
          <p:nvPr/>
        </p:nvSpPr>
        <p:spPr>
          <a:xfrm>
            <a:off x="57607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Posisi Tangan</a:t>
            </a:r>
            <a:endParaRPr lang="en-US" sz="1800" dirty="0"/>
          </a:p>
        </p:txBody>
      </p:sp>
      <p:sp>
        <p:nvSpPr>
          <p:cNvPr id="12" name="Teks teknik 2"/>
          <p:cNvSpPr txBox="1"/>
          <p:nvPr/>
        </p:nvSpPr>
        <p:spPr>
          <a:xfrm>
            <a:off x="576072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Jari-jari merenggang; hanya ujung jari yang menyentuh bola.</a:t>
            </a:r>
            <a:endParaRPr lang="en-US" sz="1400" dirty="0"/>
          </a:p>
        </p:txBody>
      </p:sp>
      <p:sp>
        <p:nvSpPr>
          <p:cNvPr id="13" name="Kartu teknik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knik 3 lingkaran"/>
          <p:cNvSpPr/>
          <p:nvPr/>
        </p:nvSpPr>
        <p:spPr>
          <a:xfrm>
            <a:off x="685800" y="34290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Teknik 3 ikon" descr="Tekni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66160"/>
            <a:ext cx="411480" cy="411480"/>
          </a:xfrm>
          <a:prstGeom prst="rect">
            <a:avLst/>
          </a:prstGeom>
        </p:spPr>
      </p:pic>
      <p:sp>
        <p:nvSpPr>
          <p:cNvPr id="16" name="Judul teknik 3"/>
          <p:cNvSpPr txBox="1"/>
          <p:nvPr/>
        </p:nvSpPr>
        <p:spPr>
          <a:xfrm>
            <a:off x="1554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 Gerak Pergelangan</a:t>
            </a:r>
            <a:endParaRPr lang="en-US" sz="1800" dirty="0"/>
          </a:p>
        </p:txBody>
      </p:sp>
      <p:sp>
        <p:nvSpPr>
          <p:cNvPr id="17" name="Teks teknik 3"/>
          <p:cNvSpPr txBox="1"/>
          <p:nvPr/>
        </p:nvSpPr>
        <p:spPr>
          <a:xfrm>
            <a:off x="1554480" y="3566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Dorong bola dengan jari dan pergelangan tangan, bukan ditampar.</a:t>
            </a:r>
            <a:endParaRPr lang="en-US" sz="1400" dirty="0"/>
          </a:p>
        </p:txBody>
      </p:sp>
      <p:sp>
        <p:nvSpPr>
          <p:cNvPr id="18" name="Kartu teknik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knik 4 lingkaran"/>
          <p:cNvSpPr/>
          <p:nvPr/>
        </p:nvSpPr>
        <p:spPr>
          <a:xfrm>
            <a:off x="4892040" y="34290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Teknik 4 ikon" descr="Tekni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411480" cy="411480"/>
          </a:xfrm>
          <a:prstGeom prst="rect">
            <a:avLst/>
          </a:prstGeom>
        </p:spPr>
      </p:pic>
      <p:sp>
        <p:nvSpPr>
          <p:cNvPr id="21" name="Judul teknik 4"/>
          <p:cNvSpPr txBox="1"/>
          <p:nvPr/>
        </p:nvSpPr>
        <p:spPr>
          <a:xfrm>
            <a:off x="57607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 Pandangan</a:t>
            </a:r>
            <a:endParaRPr lang="en-US" sz="1800" dirty="0"/>
          </a:p>
        </p:txBody>
      </p:sp>
      <p:sp>
        <p:nvSpPr>
          <p:cNvPr id="22" name="Teks teknik 4"/>
          <p:cNvSpPr txBox="1"/>
          <p:nvPr/>
        </p:nvSpPr>
        <p:spPr>
          <a:xfrm>
            <a:off x="5760720" y="3566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Mata menatap ke depan; bola dipantul di samping depan badan.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Dribbling Tinggi &amp; Rendah</a:t>
            </a:r>
            <a:endParaRPr lang="en-US" sz="3400" dirty="0"/>
          </a:p>
        </p:txBody>
      </p:sp>
      <p:sp>
        <p:nvSpPr>
          <p:cNvPr id="3" name="Kartu jenis 1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Gambar Dribbling Tinggi" descr="Ilustrasi dribbling tingg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2176272"/>
          </a:xfrm>
          <a:prstGeom prst="rect">
            <a:avLst/>
          </a:prstGeom>
        </p:spPr>
      </p:pic>
      <p:sp>
        <p:nvSpPr>
          <p:cNvPr id="5" name="Judul Dribbling Tinggi"/>
          <p:cNvSpPr txBox="1"/>
          <p:nvPr/>
        </p:nvSpPr>
        <p:spPr>
          <a:xfrm>
            <a:off x="68580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Dribbling Tinggi</a:t>
            </a:r>
            <a:endParaRPr lang="en-US" sz="1800" dirty="0"/>
          </a:p>
        </p:txBody>
      </p:sp>
      <p:sp>
        <p:nvSpPr>
          <p:cNvPr id="6" name="Teks Dribbling Tinggi"/>
          <p:cNvSpPr txBox="1"/>
          <p:nvPr/>
        </p:nvSpPr>
        <p:spPr>
          <a:xfrm>
            <a:off x="685800" y="390448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Bola setinggi pinggang–dada. Dipakai saat bebas dari lawan untuk berlari cepat.</a:t>
            </a:r>
            <a:endParaRPr lang="en-US" sz="1400" dirty="0"/>
          </a:p>
        </p:txBody>
      </p:sp>
      <p:sp>
        <p:nvSpPr>
          <p:cNvPr id="7" name="Kartu jenis 2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Gambar Dribbling Rendah" descr="Ilustrasi dribbling rendah dengan la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2176272"/>
          </a:xfrm>
          <a:prstGeom prst="rect">
            <a:avLst/>
          </a:prstGeom>
        </p:spPr>
      </p:pic>
      <p:sp>
        <p:nvSpPr>
          <p:cNvPr id="9" name="Judul Dribbling Rendah"/>
          <p:cNvSpPr txBox="1"/>
          <p:nvPr/>
        </p:nvSpPr>
        <p:spPr>
          <a:xfrm>
            <a:off x="489204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Dribbling Rendah</a:t>
            </a:r>
            <a:endParaRPr lang="en-US" sz="1800" dirty="0"/>
          </a:p>
        </p:txBody>
      </p:sp>
      <p:sp>
        <p:nvSpPr>
          <p:cNvPr id="10" name="Teks Dribbling Rendah"/>
          <p:cNvSpPr txBox="1"/>
          <p:nvPr/>
        </p:nvSpPr>
        <p:spPr>
          <a:xfrm>
            <a:off x="4892040" y="390448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Bola setinggi lutut, badan merendah. Dipakai saat dijaga lawan untuk melindungi bola.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Passing: Mengoper Bola</a:t>
            </a:r>
            <a:endParaRPr lang="en-US" sz="3400" dirty="0"/>
          </a:p>
        </p:txBody>
      </p:sp>
      <p:sp>
        <p:nvSpPr>
          <p:cNvPr id="3" name="Kartu passing"/>
          <p:cNvSpPr/>
          <p:nvPr/>
        </p:nvSpPr>
        <p:spPr>
          <a:xfrm>
            <a:off x="457200" y="1188720"/>
            <a:ext cx="3657600" cy="3429000"/>
          </a:xfrm>
          <a:prstGeom prst="roundRect">
            <a:avLst>
              <a:gd name="adj" fmla="val 37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Definisi passing"/>
          <p:cNvSpPr txBox="1"/>
          <p:nvPr/>
        </p:nvSpPr>
        <p:spPr>
          <a:xfrm>
            <a:off x="685800" y="1371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Mengoper bola kepada teman satu tim untuk membangun serangan dan mencetak poin.</a:t>
            </a:r>
            <a:endParaRPr lang="en-US" sz="1500" dirty="0"/>
          </a:p>
        </p:txBody>
      </p:sp>
      <p:sp>
        <p:nvSpPr>
          <p:cNvPr id="5" name="Syarat 1 lingkaran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yarat 1 ikon" descr="Syara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523744"/>
            <a:ext cx="301752" cy="301752"/>
          </a:xfrm>
          <a:prstGeom prst="rect">
            <a:avLst/>
          </a:prstGeom>
        </p:spPr>
      </p:pic>
      <p:sp>
        <p:nvSpPr>
          <p:cNvPr id="7" name="Syarat teks 1"/>
          <p:cNvSpPr txBox="1"/>
          <p:nvPr/>
        </p:nvSpPr>
        <p:spPr>
          <a:xfrm>
            <a:off x="137160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Akurat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tepat ke sasaran</a:t>
            </a:r>
            <a:endParaRPr lang="en-US" sz="1400" dirty="0"/>
          </a:p>
        </p:txBody>
      </p:sp>
      <p:sp>
        <p:nvSpPr>
          <p:cNvPr id="8" name="Syarat 2 lingkaran"/>
          <p:cNvSpPr/>
          <p:nvPr/>
        </p:nvSpPr>
        <p:spPr>
          <a:xfrm>
            <a:off x="685800" y="31363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Syarat 2 ikon" descr="Syara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36976"/>
            <a:ext cx="301752" cy="301752"/>
          </a:xfrm>
          <a:prstGeom prst="rect">
            <a:avLst/>
          </a:prstGeom>
        </p:spPr>
      </p:pic>
      <p:sp>
        <p:nvSpPr>
          <p:cNvPr id="10" name="Syarat teks 2"/>
          <p:cNvSpPr txBox="1"/>
          <p:nvPr/>
        </p:nvSpPr>
        <p:spPr>
          <a:xfrm>
            <a:off x="1371600" y="3136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Cepat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sulit dipotong lawan</a:t>
            </a:r>
            <a:endParaRPr lang="en-US" sz="1400" dirty="0"/>
          </a:p>
        </p:txBody>
      </p:sp>
      <p:sp>
        <p:nvSpPr>
          <p:cNvPr id="11" name="Syarat 3 lingkaran"/>
          <p:cNvSpPr/>
          <p:nvPr/>
        </p:nvSpPr>
        <p:spPr>
          <a:xfrm>
            <a:off x="685800" y="38496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Syarat 3 ikon" descr="Syara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950208"/>
            <a:ext cx="301752" cy="301752"/>
          </a:xfrm>
          <a:prstGeom prst="rect">
            <a:avLst/>
          </a:prstGeom>
        </p:spPr>
      </p:pic>
      <p:sp>
        <p:nvSpPr>
          <p:cNvPr id="13" name="Syarat teks 3"/>
          <p:cNvSpPr txBox="1"/>
          <p:nvPr/>
        </p:nvSpPr>
        <p:spPr>
          <a:xfrm>
            <a:off x="1371600" y="38496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Tepat waktu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saat teman terbuka</a:t>
            </a:r>
            <a:endParaRPr lang="en-US" sz="1400" dirty="0"/>
          </a:p>
        </p:txBody>
      </p:sp>
      <p:sp>
        <p:nvSpPr>
          <p:cNvPr id="14" name="Kartu langkah 1"/>
          <p:cNvSpPr/>
          <p:nvPr/>
        </p:nvSpPr>
        <p:spPr>
          <a:xfrm>
            <a:off x="4389120" y="1188720"/>
            <a:ext cx="42976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omor 1"/>
          <p:cNvSpPr/>
          <p:nvPr/>
        </p:nvSpPr>
        <p:spPr>
          <a:xfrm>
            <a:off x="4526280" y="1298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ngka 1"/>
          <p:cNvSpPr txBox="1"/>
          <p:nvPr/>
        </p:nvSpPr>
        <p:spPr>
          <a:xfrm>
            <a:off x="4526280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ks langkah 1"/>
          <p:cNvSpPr txBox="1"/>
          <p:nvPr/>
        </p:nvSpPr>
        <p:spPr>
          <a:xfrm>
            <a:off x="5212080" y="1188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Pegang bola dua tangan, jari merenggang di sisi bola.</a:t>
            </a:r>
            <a:endParaRPr lang="en-US" sz="1400" dirty="0"/>
          </a:p>
        </p:txBody>
      </p:sp>
      <p:sp>
        <p:nvSpPr>
          <p:cNvPr id="18" name="Kartu langkah 2"/>
          <p:cNvSpPr/>
          <p:nvPr/>
        </p:nvSpPr>
        <p:spPr>
          <a:xfrm>
            <a:off x="4389120" y="2057400"/>
            <a:ext cx="42976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omor 2"/>
          <p:cNvSpPr/>
          <p:nvPr/>
        </p:nvSpPr>
        <p:spPr>
          <a:xfrm>
            <a:off x="4526280" y="21671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Angka 2"/>
          <p:cNvSpPr txBox="1"/>
          <p:nvPr/>
        </p:nvSpPr>
        <p:spPr>
          <a:xfrm>
            <a:off x="452628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21" name="Teks langkah 2"/>
          <p:cNvSpPr txBox="1"/>
          <p:nvPr/>
        </p:nvSpPr>
        <p:spPr>
          <a:xfrm>
            <a:off x="5212080" y="20574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Bola di depan dada, siku ditekuk, mata menatap sasaran.</a:t>
            </a:r>
            <a:endParaRPr lang="en-US" sz="1400" dirty="0"/>
          </a:p>
        </p:txBody>
      </p:sp>
      <p:sp>
        <p:nvSpPr>
          <p:cNvPr id="22" name="Kartu langkah 3"/>
          <p:cNvSpPr/>
          <p:nvPr/>
        </p:nvSpPr>
        <p:spPr>
          <a:xfrm>
            <a:off x="4389120" y="2926080"/>
            <a:ext cx="42976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omor 3"/>
          <p:cNvSpPr/>
          <p:nvPr/>
        </p:nvSpPr>
        <p:spPr>
          <a:xfrm>
            <a:off x="4526280" y="3035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Angka 3"/>
          <p:cNvSpPr txBox="1"/>
          <p:nvPr/>
        </p:nvSpPr>
        <p:spPr>
          <a:xfrm>
            <a:off x="452628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ks langkah 3"/>
          <p:cNvSpPr txBox="1"/>
          <p:nvPr/>
        </p:nvSpPr>
        <p:spPr>
          <a:xfrm>
            <a:off x="5212080" y="29260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Langkahkan satu kaki ke depan sambil mendorong bola.</a:t>
            </a:r>
            <a:endParaRPr lang="en-US" sz="1400" dirty="0"/>
          </a:p>
        </p:txBody>
      </p:sp>
      <p:sp>
        <p:nvSpPr>
          <p:cNvPr id="26" name="Kartu langkah 4"/>
          <p:cNvSpPr/>
          <p:nvPr/>
        </p:nvSpPr>
        <p:spPr>
          <a:xfrm>
            <a:off x="4389120" y="3794760"/>
            <a:ext cx="429768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omor 4"/>
          <p:cNvSpPr/>
          <p:nvPr/>
        </p:nvSpPr>
        <p:spPr>
          <a:xfrm>
            <a:off x="4526280" y="39044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Angka 4"/>
          <p:cNvSpPr txBox="1"/>
          <p:nvPr/>
        </p:nvSpPr>
        <p:spPr>
          <a:xfrm>
            <a:off x="4526280" y="3904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ks langkah 4"/>
          <p:cNvSpPr txBox="1"/>
          <p:nvPr/>
        </p:nvSpPr>
        <p:spPr>
          <a:xfrm>
            <a:off x="5212080" y="37947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Luruskan lengan, ibu jari ke bawah, jari menunjuk sasaran.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Tiga Jenis Passing Dasar</a:t>
            </a:r>
            <a:endParaRPr lang="en-US" sz="3400" dirty="0"/>
          </a:p>
        </p:txBody>
      </p:sp>
      <p:sp>
        <p:nvSpPr>
          <p:cNvPr id="3" name="Kartu passing 1"/>
          <p:cNvSpPr/>
          <p:nvPr/>
        </p:nvSpPr>
        <p:spPr>
          <a:xfrm>
            <a:off x="457200" y="1188720"/>
            <a:ext cx="2560320" cy="3429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4" name="Gambar Chest Pass" descr="Ilustrasi Chest 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377440" cy="1698041"/>
          </a:xfrm>
          <a:prstGeom prst="rect">
            <a:avLst/>
          </a:prstGeom>
        </p:spPr>
      </p:pic>
      <p:sp>
        <p:nvSpPr>
          <p:cNvPr id="5" name="Judul Chest Pass"/>
          <p:cNvSpPr txBox="1"/>
          <p:nvPr/>
        </p:nvSpPr>
        <p:spPr>
          <a:xfrm>
            <a:off x="640080" y="3063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Chest Pass</a:t>
            </a:r>
            <a:endParaRPr lang="en-US" sz="1800" dirty="0"/>
          </a:p>
        </p:txBody>
      </p:sp>
      <p:sp>
        <p:nvSpPr>
          <p:cNvPr id="6" name="Sub Chest Pass"/>
          <p:cNvSpPr txBox="1"/>
          <p:nvPr/>
        </p:nvSpPr>
        <p:spPr>
          <a:xfrm>
            <a:off x="640080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Operan dada</a:t>
            </a:r>
            <a:endParaRPr lang="en-US" sz="1200" dirty="0"/>
          </a:p>
        </p:txBody>
      </p:sp>
      <p:sp>
        <p:nvSpPr>
          <p:cNvPr id="7" name="Teks Chest Pass"/>
          <p:cNvSpPr txBox="1"/>
          <p:nvPr/>
        </p:nvSpPr>
        <p:spPr>
          <a:xfrm>
            <a:off x="64008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Dari depan dada, lurus ke dada teman. Paling cepat; untuk jarak dekat–sedang.</a:t>
            </a:r>
            <a:endParaRPr lang="en-US" sz="1300" dirty="0"/>
          </a:p>
        </p:txBody>
      </p:sp>
      <p:sp>
        <p:nvSpPr>
          <p:cNvPr id="8" name="Kartu passing 2"/>
          <p:cNvSpPr/>
          <p:nvPr/>
        </p:nvSpPr>
        <p:spPr>
          <a:xfrm>
            <a:off x="3291840" y="1188720"/>
            <a:ext cx="2560320" cy="3429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Gambar Bounce Pass" descr="Ilustrasi Bounce 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80160"/>
            <a:ext cx="2377440" cy="1698041"/>
          </a:xfrm>
          <a:prstGeom prst="rect">
            <a:avLst/>
          </a:prstGeom>
        </p:spPr>
      </p:pic>
      <p:sp>
        <p:nvSpPr>
          <p:cNvPr id="10" name="Judul Bounce Pass"/>
          <p:cNvSpPr txBox="1"/>
          <p:nvPr/>
        </p:nvSpPr>
        <p:spPr>
          <a:xfrm>
            <a:off x="3474720" y="3063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Bounce Pass</a:t>
            </a:r>
            <a:endParaRPr lang="en-US" sz="1800" dirty="0"/>
          </a:p>
        </p:txBody>
      </p:sp>
      <p:sp>
        <p:nvSpPr>
          <p:cNvPr id="11" name="Sub Bounce Pass"/>
          <p:cNvSpPr txBox="1"/>
          <p:nvPr/>
        </p:nvSpPr>
        <p:spPr>
          <a:xfrm>
            <a:off x="3474720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Operan pantul</a:t>
            </a:r>
            <a:endParaRPr lang="en-US" sz="1200" dirty="0"/>
          </a:p>
        </p:txBody>
      </p:sp>
      <p:sp>
        <p:nvSpPr>
          <p:cNvPr id="12" name="Teks Bounce Pass"/>
          <p:cNvSpPr txBox="1"/>
          <p:nvPr/>
        </p:nvSpPr>
        <p:spPr>
          <a:xfrm>
            <a:off x="347472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Dipantulkan sekali ke lantai, sekitar 2/3 jarak ke teman. Efektif melewati lawan yang tinggi.</a:t>
            </a:r>
            <a:endParaRPr lang="en-US" sz="1300" dirty="0"/>
          </a:p>
        </p:txBody>
      </p:sp>
      <p:sp>
        <p:nvSpPr>
          <p:cNvPr id="13" name="Kartu passing 3"/>
          <p:cNvSpPr/>
          <p:nvPr/>
        </p:nvSpPr>
        <p:spPr>
          <a:xfrm>
            <a:off x="6126480" y="1188720"/>
            <a:ext cx="2560320" cy="3429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Gambar Overhead Pass" descr="Ilustrasi Overhead 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2377440" cy="1698041"/>
          </a:xfrm>
          <a:prstGeom prst="rect">
            <a:avLst/>
          </a:prstGeom>
        </p:spPr>
      </p:pic>
      <p:sp>
        <p:nvSpPr>
          <p:cNvPr id="15" name="Judul Overhead Pass"/>
          <p:cNvSpPr txBox="1"/>
          <p:nvPr/>
        </p:nvSpPr>
        <p:spPr>
          <a:xfrm>
            <a:off x="6309360" y="3063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Overhead Pass</a:t>
            </a:r>
            <a:endParaRPr lang="en-US" sz="1800" dirty="0"/>
          </a:p>
        </p:txBody>
      </p:sp>
      <p:sp>
        <p:nvSpPr>
          <p:cNvPr id="16" name="Sub Overhead Pass"/>
          <p:cNvSpPr txBox="1"/>
          <p:nvPr/>
        </p:nvSpPr>
        <p:spPr>
          <a:xfrm>
            <a:off x="6309360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Operan atas kepala</a:t>
            </a:r>
            <a:endParaRPr lang="en-US" sz="1200" dirty="0"/>
          </a:p>
        </p:txBody>
      </p:sp>
      <p:sp>
        <p:nvSpPr>
          <p:cNvPr id="17" name="Teks Overhead Pass"/>
          <p:cNvSpPr txBox="1"/>
          <p:nvPr/>
        </p:nvSpPr>
        <p:spPr>
          <a:xfrm>
            <a:off x="630936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Dari atas kepala dengan dua tangan. Untuk jarak jauh atau melewati lawan.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Ayo Berlatih!</a:t>
            </a:r>
            <a:endParaRPr lang="en-US" sz="3400" dirty="0"/>
          </a:p>
        </p:txBody>
      </p:sp>
      <p:sp>
        <p:nvSpPr>
          <p:cNvPr id="3" name="Kartu latihan 1"/>
          <p:cNvSpPr/>
          <p:nvPr/>
        </p:nvSpPr>
        <p:spPr>
          <a:xfrm>
            <a:off x="457200" y="1188720"/>
            <a:ext cx="822960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Gambar Latihan 1: Dribbling Zig-zag" descr="Denah latihan dribbling zig-z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560320" cy="1452067"/>
          </a:xfrm>
          <a:prstGeom prst="rect">
            <a:avLst/>
          </a:prstGeom>
        </p:spPr>
      </p:pic>
      <p:sp>
        <p:nvSpPr>
          <p:cNvPr id="5" name="Judul Latihan 1: Dribbling Zig-zag"/>
          <p:cNvSpPr txBox="1"/>
          <p:nvPr/>
        </p:nvSpPr>
        <p:spPr>
          <a:xfrm>
            <a:off x="33375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Latihan 1: Dribbling Zig-zag</a:t>
            </a:r>
            <a:endParaRPr lang="en-US" sz="1800" dirty="0"/>
          </a:p>
        </p:txBody>
      </p:sp>
      <p:sp>
        <p:nvSpPr>
          <p:cNvPr id="6" name="Teks Latihan 1: Dribbling Zig-zag"/>
          <p:cNvSpPr txBox="1"/>
          <p:nvPr/>
        </p:nvSpPr>
        <p:spPr>
          <a:xfrm>
            <a:off x="3337560" y="1691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Susun 5 kerucut dengan jarak 2 meter.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Pergi dengan dribbling rendah, pulang dengan dribbling tinggi.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Ulangi 3 kali, tangan kanan lalu tangan kiri.</a:t>
            </a:r>
            <a:endParaRPr lang="en-US" sz="1400" dirty="0"/>
          </a:p>
        </p:txBody>
      </p:sp>
      <p:sp>
        <p:nvSpPr>
          <p:cNvPr id="7" name="Kartu latihan 2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Gambar Latihan 2: Passing Berpasangan" descr="Denah latihan passing berpasang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2560320" cy="1452067"/>
          </a:xfrm>
          <a:prstGeom prst="rect">
            <a:avLst/>
          </a:prstGeom>
        </p:spPr>
      </p:pic>
      <p:sp>
        <p:nvSpPr>
          <p:cNvPr id="9" name="Judul Latihan 2: Passing Berpasangan"/>
          <p:cNvSpPr txBox="1"/>
          <p:nvPr/>
        </p:nvSpPr>
        <p:spPr>
          <a:xfrm>
            <a:off x="333756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Latihan 2: Passing Berpasangan</a:t>
            </a:r>
            <a:endParaRPr lang="en-US" sz="1800" dirty="0"/>
          </a:p>
        </p:txBody>
      </p:sp>
      <p:sp>
        <p:nvSpPr>
          <p:cNvPr id="10" name="Teks Latihan 2: Passing Berpasangan"/>
          <p:cNvSpPr txBox="1"/>
          <p:nvPr/>
        </p:nvSpPr>
        <p:spPr>
          <a:xfrm>
            <a:off x="3337560" y="34290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Berhadapan dengan jarak 3–4 meter.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Lakukan 10 chest pass, 10 bounce pass, 10 overhead pass.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Tangkap dengan dua tangan, lalu segera kembalikan.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Kesalahan Umum &amp; Perbaikannya</a:t>
            </a:r>
            <a:endParaRPr lang="en-US" sz="3400" dirty="0"/>
          </a:p>
        </p:txBody>
      </p:sp>
      <p:sp>
        <p:nvSpPr>
          <p:cNvPr id="3" name="Kartu salah 1"/>
          <p:cNvSpPr/>
          <p:nvPr/>
        </p:nvSpPr>
        <p:spPr>
          <a:xfrm>
            <a:off x="457200" y="118872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alah 1 lingkaran"/>
          <p:cNvSpPr/>
          <p:nvPr/>
        </p:nvSpPr>
        <p:spPr>
          <a:xfrm>
            <a:off x="566928" y="128016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alah 1 ikon" descr="Salah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385316"/>
            <a:ext cx="210312" cy="210312"/>
          </a:xfrm>
          <a:prstGeom prst="rect">
            <a:avLst/>
          </a:prstGeom>
        </p:spPr>
      </p:pic>
      <p:sp>
        <p:nvSpPr>
          <p:cNvPr id="6" name="Teks salah 1"/>
          <p:cNvSpPr txBox="1"/>
          <p:nvPr/>
        </p:nvSpPr>
        <p:spPr>
          <a:xfrm>
            <a:off x="1143000" y="118872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Terus menatap bola</a:t>
            </a:r>
            <a:endParaRPr lang="en-US" sz="1400" dirty="0"/>
          </a:p>
        </p:txBody>
      </p:sp>
      <p:pic>
        <p:nvPicPr>
          <p:cNvPr id="7" name="Panah 1" descr="menjad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53312"/>
            <a:ext cx="274320" cy="274320"/>
          </a:xfrm>
          <a:prstGeom prst="rect">
            <a:avLst/>
          </a:prstGeom>
        </p:spPr>
      </p:pic>
      <p:sp>
        <p:nvSpPr>
          <p:cNvPr id="8" name="Kartu benar 1"/>
          <p:cNvSpPr/>
          <p:nvPr/>
        </p:nvSpPr>
        <p:spPr>
          <a:xfrm>
            <a:off x="4846320" y="118872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enar 1 lingkaran"/>
          <p:cNvSpPr/>
          <p:nvPr/>
        </p:nvSpPr>
        <p:spPr>
          <a:xfrm>
            <a:off x="4956048" y="128016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Benar 1 ikon" descr="Benar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385316"/>
            <a:ext cx="210312" cy="210312"/>
          </a:xfrm>
          <a:prstGeom prst="rect">
            <a:avLst/>
          </a:prstGeom>
        </p:spPr>
      </p:pic>
      <p:sp>
        <p:nvSpPr>
          <p:cNvPr id="11" name="Teks benar 1"/>
          <p:cNvSpPr txBox="1"/>
          <p:nvPr/>
        </p:nvSpPr>
        <p:spPr>
          <a:xfrm>
            <a:off x="5532120" y="118872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Angkat kepala, lihat lapangan dan teman</a:t>
            </a:r>
            <a:endParaRPr lang="en-US" sz="1400" dirty="0"/>
          </a:p>
        </p:txBody>
      </p:sp>
      <p:sp>
        <p:nvSpPr>
          <p:cNvPr id="12" name="Kartu salah 2"/>
          <p:cNvSpPr/>
          <p:nvPr/>
        </p:nvSpPr>
        <p:spPr>
          <a:xfrm>
            <a:off x="457200" y="192024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alah 2 lingkaran"/>
          <p:cNvSpPr/>
          <p:nvPr/>
        </p:nvSpPr>
        <p:spPr>
          <a:xfrm>
            <a:off x="566928" y="201168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Salah 2 ikon" descr="Salah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116836"/>
            <a:ext cx="210312" cy="210312"/>
          </a:xfrm>
          <a:prstGeom prst="rect">
            <a:avLst/>
          </a:prstGeom>
        </p:spPr>
      </p:pic>
      <p:sp>
        <p:nvSpPr>
          <p:cNvPr id="15" name="Teks salah 2"/>
          <p:cNvSpPr txBox="1"/>
          <p:nvPr/>
        </p:nvSpPr>
        <p:spPr>
          <a:xfrm>
            <a:off x="1143000" y="192024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Menampar bola dengan telapak tangan</a:t>
            </a:r>
            <a:endParaRPr lang="en-US" sz="1400" dirty="0"/>
          </a:p>
        </p:txBody>
      </p:sp>
      <p:pic>
        <p:nvPicPr>
          <p:cNvPr id="16" name="Panah 2" descr="menjad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084832"/>
            <a:ext cx="274320" cy="274320"/>
          </a:xfrm>
          <a:prstGeom prst="rect">
            <a:avLst/>
          </a:prstGeom>
        </p:spPr>
      </p:pic>
      <p:sp>
        <p:nvSpPr>
          <p:cNvPr id="17" name="Kartu benar 2"/>
          <p:cNvSpPr/>
          <p:nvPr/>
        </p:nvSpPr>
        <p:spPr>
          <a:xfrm>
            <a:off x="4846320" y="192024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enar 2 lingkaran"/>
          <p:cNvSpPr/>
          <p:nvPr/>
        </p:nvSpPr>
        <p:spPr>
          <a:xfrm>
            <a:off x="4956048" y="201168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Benar 2 ikon" descr="Benar 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204" y="2116836"/>
            <a:ext cx="210312" cy="210312"/>
          </a:xfrm>
          <a:prstGeom prst="rect">
            <a:avLst/>
          </a:prstGeom>
        </p:spPr>
      </p:pic>
      <p:sp>
        <p:nvSpPr>
          <p:cNvPr id="20" name="Teks benar 2"/>
          <p:cNvSpPr txBox="1"/>
          <p:nvPr/>
        </p:nvSpPr>
        <p:spPr>
          <a:xfrm>
            <a:off x="5532120" y="192024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Gunakan ujung jari dan pergelangan</a:t>
            </a:r>
            <a:endParaRPr lang="en-US" sz="1400" dirty="0"/>
          </a:p>
        </p:txBody>
      </p:sp>
      <p:sp>
        <p:nvSpPr>
          <p:cNvPr id="21" name="Kartu salah 3"/>
          <p:cNvSpPr/>
          <p:nvPr/>
        </p:nvSpPr>
        <p:spPr>
          <a:xfrm>
            <a:off x="457200" y="265176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alah 3 lingkaran"/>
          <p:cNvSpPr/>
          <p:nvPr/>
        </p:nvSpPr>
        <p:spPr>
          <a:xfrm>
            <a:off x="566928" y="274320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Salah 3 ikon" descr="Salah 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2848356"/>
            <a:ext cx="210312" cy="210312"/>
          </a:xfrm>
          <a:prstGeom prst="rect">
            <a:avLst/>
          </a:prstGeom>
        </p:spPr>
      </p:pic>
      <p:sp>
        <p:nvSpPr>
          <p:cNvPr id="24" name="Teks salah 3"/>
          <p:cNvSpPr txBox="1"/>
          <p:nvPr/>
        </p:nvSpPr>
        <p:spPr>
          <a:xfrm>
            <a:off x="1143000" y="265176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Berdiri tegak dan kaku</a:t>
            </a:r>
            <a:endParaRPr lang="en-US" sz="1400" dirty="0"/>
          </a:p>
        </p:txBody>
      </p:sp>
      <p:pic>
        <p:nvPicPr>
          <p:cNvPr id="25" name="Panah 3" descr="menjad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2816352"/>
            <a:ext cx="274320" cy="274320"/>
          </a:xfrm>
          <a:prstGeom prst="rect">
            <a:avLst/>
          </a:prstGeom>
        </p:spPr>
      </p:pic>
      <p:sp>
        <p:nvSpPr>
          <p:cNvPr id="26" name="Kartu benar 3"/>
          <p:cNvSpPr/>
          <p:nvPr/>
        </p:nvSpPr>
        <p:spPr>
          <a:xfrm>
            <a:off x="4846320" y="265176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Benar 3 lingkaran"/>
          <p:cNvSpPr/>
          <p:nvPr/>
        </p:nvSpPr>
        <p:spPr>
          <a:xfrm>
            <a:off x="4956048" y="274320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Benar 3 ikon" descr="Benar 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1204" y="2848356"/>
            <a:ext cx="210312" cy="210312"/>
          </a:xfrm>
          <a:prstGeom prst="rect">
            <a:avLst/>
          </a:prstGeom>
        </p:spPr>
      </p:pic>
      <p:sp>
        <p:nvSpPr>
          <p:cNvPr id="29" name="Teks benar 3"/>
          <p:cNvSpPr txBox="1"/>
          <p:nvPr/>
        </p:nvSpPr>
        <p:spPr>
          <a:xfrm>
            <a:off x="5532120" y="265176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Tekuk lutut, badan sedikit condong</a:t>
            </a:r>
            <a:endParaRPr lang="en-US" sz="1400" dirty="0"/>
          </a:p>
        </p:txBody>
      </p:sp>
      <p:sp>
        <p:nvSpPr>
          <p:cNvPr id="30" name="Kartu salah 4"/>
          <p:cNvSpPr/>
          <p:nvPr/>
        </p:nvSpPr>
        <p:spPr>
          <a:xfrm>
            <a:off x="457200" y="338328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alah 4 lingkaran"/>
          <p:cNvSpPr/>
          <p:nvPr/>
        </p:nvSpPr>
        <p:spPr>
          <a:xfrm>
            <a:off x="566928" y="3474720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Salah 4 ikon" descr="Salah 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" y="3579876"/>
            <a:ext cx="210312" cy="210312"/>
          </a:xfrm>
          <a:prstGeom prst="rect">
            <a:avLst/>
          </a:prstGeom>
        </p:spPr>
      </p:pic>
      <p:sp>
        <p:nvSpPr>
          <p:cNvPr id="33" name="Teks salah 4"/>
          <p:cNvSpPr txBox="1"/>
          <p:nvPr/>
        </p:nvSpPr>
        <p:spPr>
          <a:xfrm>
            <a:off x="1143000" y="338328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Mengoper tanpa melihat sasaran</a:t>
            </a:r>
            <a:endParaRPr lang="en-US" sz="1400" dirty="0"/>
          </a:p>
        </p:txBody>
      </p:sp>
      <p:pic>
        <p:nvPicPr>
          <p:cNvPr id="34" name="Panah 4" descr="menjad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3547872"/>
            <a:ext cx="274320" cy="274320"/>
          </a:xfrm>
          <a:prstGeom prst="rect">
            <a:avLst/>
          </a:prstGeom>
        </p:spPr>
      </p:pic>
      <p:sp>
        <p:nvSpPr>
          <p:cNvPr id="35" name="Kartu benar 4"/>
          <p:cNvSpPr/>
          <p:nvPr/>
        </p:nvSpPr>
        <p:spPr>
          <a:xfrm>
            <a:off x="4846320" y="3383280"/>
            <a:ext cx="3840480" cy="603504"/>
          </a:xfrm>
          <a:prstGeom prst="roundRect">
            <a:avLst>
              <a:gd name="adj" fmla="val 212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enar 4 lingkaran"/>
          <p:cNvSpPr/>
          <p:nvPr/>
        </p:nvSpPr>
        <p:spPr>
          <a:xfrm>
            <a:off x="4956048" y="347472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Benar 4 ikon" descr="Benar 4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1204" y="3579876"/>
            <a:ext cx="210312" cy="210312"/>
          </a:xfrm>
          <a:prstGeom prst="rect">
            <a:avLst/>
          </a:prstGeom>
        </p:spPr>
      </p:pic>
      <p:sp>
        <p:nvSpPr>
          <p:cNvPr id="38" name="Teks benar 4"/>
          <p:cNvSpPr txBox="1"/>
          <p:nvPr/>
        </p:nvSpPr>
        <p:spPr>
          <a:xfrm>
            <a:off x="5532120" y="338328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Pastikan teman siap, mata ke sasaran</a:t>
            </a:r>
            <a:endParaRPr lang="en-US" sz="1400" dirty="0"/>
          </a:p>
        </p:txBody>
      </p:sp>
      <p:sp>
        <p:nvSpPr>
          <p:cNvPr id="39" name="Kartu keselamatan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0" name="Ikon keselamatan" descr="Keselamata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88536"/>
            <a:ext cx="246888" cy="246888"/>
          </a:xfrm>
          <a:prstGeom prst="rect">
            <a:avLst/>
          </a:prstGeom>
        </p:spPr>
      </p:pic>
      <p:sp>
        <p:nvSpPr>
          <p:cNvPr id="41" name="Teks keselamatan"/>
          <p:cNvSpPr txBox="1"/>
          <p:nvPr/>
        </p:nvSpPr>
        <p:spPr>
          <a:xfrm>
            <a:off x="1051560" y="4160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Keselamatan: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pemanasan dulu, kuku pendek, sepatu olahraga, area bebas benda berbahaya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Uji Pemahamanmu</a:t>
            </a:r>
            <a:endParaRPr lang="en-US" sz="3400" dirty="0"/>
          </a:p>
        </p:txBody>
      </p:sp>
      <p:sp>
        <p:nvSpPr>
          <p:cNvPr id="3" name="Kartu soal 1"/>
          <p:cNvSpPr/>
          <p:nvPr/>
        </p:nvSpPr>
        <p:spPr>
          <a:xfrm>
            <a:off x="457200" y="1188720"/>
            <a:ext cx="502920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Nomor soal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ngka soal 1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ks soal 1"/>
          <p:cNvSpPr txBox="1"/>
          <p:nvPr/>
        </p:nvSpPr>
        <p:spPr>
          <a:xfrm>
            <a:off x="1371600" y="11887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Bagian tangan mana yang menyentuh bola saat dribbling?</a:t>
            </a:r>
            <a:endParaRPr lang="en-US" sz="1500" dirty="0"/>
          </a:p>
        </p:txBody>
      </p:sp>
      <p:sp>
        <p:nvSpPr>
          <p:cNvPr id="7" name="Kartu soal 2"/>
          <p:cNvSpPr/>
          <p:nvPr/>
        </p:nvSpPr>
        <p:spPr>
          <a:xfrm>
            <a:off x="457200" y="2331720"/>
            <a:ext cx="502920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Nomor soal 2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ngka soal 2"/>
          <p:cNvSpPr txBox="1"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ks soal 2"/>
          <p:cNvSpPr txBox="1"/>
          <p:nvPr/>
        </p:nvSpPr>
        <p:spPr>
          <a:xfrm>
            <a:off x="1371600" y="23317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Sebutkan 3 jenis passing dasar dalam bola basket!</a:t>
            </a:r>
            <a:endParaRPr lang="en-US" sz="1500" dirty="0"/>
          </a:p>
        </p:txBody>
      </p:sp>
      <p:sp>
        <p:nvSpPr>
          <p:cNvPr id="11" name="Kartu soal 3"/>
          <p:cNvSpPr/>
          <p:nvPr/>
        </p:nvSpPr>
        <p:spPr>
          <a:xfrm>
            <a:off x="457200" y="3474720"/>
            <a:ext cx="502920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Nomor soal 3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ngka soal 3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ks soal 3"/>
          <p:cNvSpPr txBox="1"/>
          <p:nvPr/>
        </p:nvSpPr>
        <p:spPr>
          <a:xfrm>
            <a:off x="1371600" y="34747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Kapan pemain sebaiknya memakai dribbling rendah?</a:t>
            </a:r>
            <a:endParaRPr lang="en-US" sz="1500" dirty="0"/>
          </a:p>
        </p:txBody>
      </p:sp>
      <p:sp>
        <p:nvSpPr>
          <p:cNvPr id="15" name="Kartu refleksi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437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kon trofi" descr="Trof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71600"/>
            <a:ext cx="640080" cy="640080"/>
          </a:xfrm>
          <a:prstGeom prst="rect">
            <a:avLst/>
          </a:prstGeom>
        </p:spPr>
      </p:pic>
      <p:sp>
        <p:nvSpPr>
          <p:cNvPr id="17" name="Judul refleksi"/>
          <p:cNvSpPr txBox="1"/>
          <p:nvPr/>
        </p:nvSpPr>
        <p:spPr>
          <a:xfrm>
            <a:off x="598932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Refleksi</a:t>
            </a:r>
            <a:endParaRPr lang="en-US" sz="2200" dirty="0"/>
          </a:p>
        </p:txBody>
      </p:sp>
      <p:sp>
        <p:nvSpPr>
          <p:cNvPr id="18" name="Teks refleksi"/>
          <p:cNvSpPr txBox="1"/>
          <p:nvPr/>
        </p:nvSpPr>
        <p:spPr>
          <a:xfrm>
            <a:off x="598932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Teknik mana yang paling sulit bagimu?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Bagaimana cara berlatih agar lebih baik?</a:t>
            </a:r>
            <a:endParaRPr lang="en-US" sz="1400" dirty="0"/>
          </a:p>
        </p:txBody>
      </p:sp>
      <p:sp>
        <p:nvSpPr>
          <p:cNvPr id="19" name="Semboyan"/>
          <p:cNvSpPr txBox="1"/>
          <p:nvPr/>
        </p:nvSpPr>
        <p:spPr>
          <a:xfrm>
            <a:off x="59893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Sportif • Kompak • Semangat!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ket PJOK">
  <a:themeElements>
    <a:clrScheme name="Basket PJOK">
      <a:dk1>
        <a:srgbClr val="141B2D"/>
      </a:dk1>
      <a:lt1>
        <a:srgbClr val="FFFFFF"/>
      </a:lt1>
      <a:dk2>
        <a:srgbClr val="232F4E"/>
      </a:dk2>
      <a:lt2>
        <a:srgbClr val="FFF0E3"/>
      </a:lt2>
      <a:accent1>
        <a:srgbClr val="F26B1D"/>
      </a:accent1>
      <a:accent2>
        <a:srgbClr val="FFB703"/>
      </a:accent2>
      <a:accent3>
        <a:srgbClr val="1E9C8B"/>
      </a:accent3>
      <a:accent4>
        <a:srgbClr val="D62839"/>
      </a:accent4>
      <a:accent5>
        <a:srgbClr val="3A6FD8"/>
      </a:accent5>
      <a:accent6>
        <a:srgbClr val="5B6785"/>
      </a:accent6>
      <a:hlink>
        <a:srgbClr val="F26B1D"/>
      </a:hlink>
      <a:folHlink>
        <a:srgbClr val="5B6785"/>
      </a:folHlink>
    </a:clrScheme>
    <a:fontScheme name="Basket PJ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Ajar PJOK - Bola Basket: Dribbling dan Passing</dc:title>
  <dc:subject>PptxGenJS Presentation</dc:subject>
  <dc:creator>Guru PJOK</dc:creator>
  <cp:lastModifiedBy>Guru PJOK</cp:lastModifiedBy>
  <cp:revision>1</cp:revision>
  <dcterms:created xsi:type="dcterms:W3CDTF">2026-10-26T09:19:20Z</dcterms:created>
  <dcterms:modified xsi:type="dcterms:W3CDTF">2026-10-26T09:19:20Z</dcterms:modified>
</cp:coreProperties>
</file>